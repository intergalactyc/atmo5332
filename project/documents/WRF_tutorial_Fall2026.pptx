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66" r:id="rId4"/>
    <p:sldId id="258" r:id="rId5"/>
    <p:sldId id="259" r:id="rId6"/>
    <p:sldId id="261" r:id="rId7"/>
    <p:sldId id="262" r:id="rId8"/>
    <p:sldId id="273" r:id="rId9"/>
    <p:sldId id="260" r:id="rId10"/>
    <p:sldId id="264" r:id="rId11"/>
    <p:sldId id="265" r:id="rId12"/>
    <p:sldId id="263" r:id="rId13"/>
    <p:sldId id="267" r:id="rId14"/>
    <p:sldId id="268" r:id="rId15"/>
    <p:sldId id="271" r:id="rId16"/>
    <p:sldId id="352" r:id="rId17"/>
    <p:sldId id="272" r:id="rId18"/>
    <p:sldId id="282" r:id="rId19"/>
    <p:sldId id="283" r:id="rId20"/>
    <p:sldId id="269" r:id="rId21"/>
    <p:sldId id="274" r:id="rId22"/>
    <p:sldId id="275" r:id="rId23"/>
    <p:sldId id="277" r:id="rId24"/>
    <p:sldId id="348" r:id="rId25"/>
    <p:sldId id="278" r:id="rId26"/>
    <p:sldId id="279" r:id="rId27"/>
    <p:sldId id="280" r:id="rId28"/>
    <p:sldId id="281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1" r:id="rId38"/>
    <p:sldId id="293" r:id="rId39"/>
    <p:sldId id="294" r:id="rId40"/>
    <p:sldId id="295" r:id="rId41"/>
    <p:sldId id="297" r:id="rId42"/>
    <p:sldId id="296" r:id="rId43"/>
    <p:sldId id="298" r:id="rId44"/>
    <p:sldId id="299" r:id="rId45"/>
    <p:sldId id="300" r:id="rId46"/>
    <p:sldId id="303" r:id="rId47"/>
    <p:sldId id="338" r:id="rId48"/>
    <p:sldId id="344" r:id="rId49"/>
    <p:sldId id="343" r:id="rId50"/>
    <p:sldId id="310" r:id="rId51"/>
    <p:sldId id="311" r:id="rId52"/>
    <p:sldId id="312" r:id="rId53"/>
    <p:sldId id="313" r:id="rId54"/>
    <p:sldId id="314" r:id="rId55"/>
    <p:sldId id="316" r:id="rId56"/>
    <p:sldId id="315" r:id="rId57"/>
    <p:sldId id="317" r:id="rId58"/>
    <p:sldId id="318" r:id="rId59"/>
    <p:sldId id="319" r:id="rId60"/>
    <p:sldId id="320" r:id="rId61"/>
    <p:sldId id="321" r:id="rId62"/>
    <p:sldId id="323" r:id="rId63"/>
    <p:sldId id="324" r:id="rId64"/>
    <p:sldId id="325" r:id="rId65"/>
    <p:sldId id="326" r:id="rId66"/>
    <p:sldId id="327" r:id="rId67"/>
    <p:sldId id="328" r:id="rId68"/>
    <p:sldId id="350" r:id="rId69"/>
    <p:sldId id="341" r:id="rId70"/>
    <p:sldId id="329" r:id="rId71"/>
    <p:sldId id="331" r:id="rId72"/>
    <p:sldId id="332" r:id="rId73"/>
    <p:sldId id="333" r:id="rId74"/>
    <p:sldId id="334" r:id="rId75"/>
    <p:sldId id="335" r:id="rId76"/>
    <p:sldId id="349" r:id="rId77"/>
    <p:sldId id="336" r:id="rId78"/>
    <p:sldId id="337" r:id="rId79"/>
    <p:sldId id="345" r:id="rId80"/>
    <p:sldId id="346" r:id="rId81"/>
    <p:sldId id="351" r:id="rId8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>
      <p:cViewPr varScale="1">
        <p:scale>
          <a:sx n="90" d="100"/>
          <a:sy n="90" d="100"/>
        </p:scale>
        <p:origin x="117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123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9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6300AA0-EA7A-4345-93C0-DB28E528B4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7BA83B5-4A17-4930-8C35-E6240A29B99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B6BD0A-59E5-41E5-9302-B90FEE2D9E1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DDA017-6B06-4E0E-91C6-EB66C037465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EF95066-A2E5-40CF-BCBD-03CEBC73E9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49B0EC-CC23-4D5A-80B0-1D5356FF505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6172CCA-6DCE-4B69-85A3-3721ECAA7F0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6B2C01-F0D4-42F7-AC85-87D1917FD69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8AD829-3213-4223-BACB-BE508FCC74C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8EB22E-A270-42DB-92C6-D6ED01919C3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0D1D3D-BEAE-4F04-B026-D2C27B4FBE4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C9817667-6F7D-497D-874C-63D6C61258FA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101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41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mailto:hpccsupport@ttu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04800"/>
            <a:ext cx="7772400" cy="1920875"/>
          </a:xfrm>
        </p:spPr>
        <p:txBody>
          <a:bodyPr/>
          <a:lstStyle/>
          <a:p>
            <a:r>
              <a:rPr lang="en-US"/>
              <a:t>ATMO5332</a:t>
            </a:r>
            <a:br>
              <a:rPr lang="en-US"/>
            </a:br>
            <a:r>
              <a:rPr lang="en-US"/>
              <a:t>WRF-ARW Tutorial</a:t>
            </a:r>
          </a:p>
        </p:txBody>
      </p:sp>
      <p:pic>
        <p:nvPicPr>
          <p:cNvPr id="2052" name="Picture 4" descr="wind3k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590800"/>
            <a:ext cx="4495800" cy="4046538"/>
          </a:xfrm>
          <a:prstGeom prst="rect">
            <a:avLst/>
          </a:prstGeom>
          <a:noFill/>
        </p:spPr>
      </p:pic>
      <p:pic>
        <p:nvPicPr>
          <p:cNvPr id="2053" name="Picture 5" descr="TTU_example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590800"/>
            <a:ext cx="4495800" cy="4046538"/>
          </a:xfrm>
          <a:prstGeom prst="rect">
            <a:avLst/>
          </a:prstGeom>
          <a:noFill/>
        </p:spPr>
      </p:pic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8229600" y="6400800"/>
            <a:ext cx="457200" cy="2143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800">
                <a:solidFill>
                  <a:schemeClr val="bg2"/>
                </a:solidFill>
              </a:rPr>
              <a:t>0.01”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Overview of WRF Modeling System 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A bare-bones WRF run involves 4 major steps: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1) WRF Preprocessing System (WPS)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2)  Initialization (real)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3)  Numerical integration (WRF)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4)  Visualization</a:t>
            </a:r>
          </a:p>
          <a:p>
            <a:pPr>
              <a:buFont typeface="Wingdings" pitchFamily="2" charset="2"/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Overview of WRF Modeling System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A bare-bones WRF run involves 4 major steps: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1) WRF Preprocessing System (WPS)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2)  Initialization (real)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3)  Numerical integration (WRF)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		4)  Visualization</a:t>
            </a:r>
          </a:p>
          <a:p>
            <a:pPr>
              <a:buFont typeface="Wingdings" pitchFamily="2" charset="2"/>
              <a:buNone/>
            </a:pPr>
            <a:r>
              <a:rPr lang="en-US" sz="3600" dirty="0"/>
              <a:t>              </a:t>
            </a:r>
            <a:r>
              <a:rPr lang="en-US" dirty="0"/>
              <a:t>Most steps above are capable of running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  in parallel mode using multiple CPUs</a:t>
            </a:r>
          </a:p>
          <a:p>
            <a:pPr>
              <a:buFont typeface="Wingdings" pitchFamily="2" charset="2"/>
              <a:buNone/>
            </a:pPr>
            <a:endParaRPr lang="en-US" sz="3600" dirty="0"/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>
            <a:off x="152400" y="6096000"/>
            <a:ext cx="1752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Overview of WRF Modeling System</a:t>
            </a:r>
          </a:p>
        </p:txBody>
      </p:sp>
      <p:pic>
        <p:nvPicPr>
          <p:cNvPr id="10245" name="Picture 5" descr="WRF_flowchar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762000" y="1654175"/>
            <a:ext cx="7696200" cy="5203825"/>
          </a:xfrm>
          <a:noFill/>
          <a:ln/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2743200" y="5029200"/>
            <a:ext cx="914400" cy="5334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3886200" y="5029200"/>
            <a:ext cx="990600" cy="5334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5029200" y="4953000"/>
            <a:ext cx="1295400" cy="6858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6934200" y="4495800"/>
            <a:ext cx="762000" cy="3048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3352800" y="6248400"/>
            <a:ext cx="3368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>
                <a:solidFill>
                  <a:srgbClr val="66FF33"/>
                </a:solidFill>
              </a:rPr>
              <a:t>Green boxes = Bare-bones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WPS performs all preprocessing of data needed for a WRF numerical integration (define domains, get initial conditions…)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WPS performs all preprocessing of data needed for a WRF numerical integration (define domains, get initial conditions…)</a:t>
            </a:r>
          </a:p>
          <a:p>
            <a:r>
              <a:rPr lang="en-US"/>
              <a:t>WPS is controlled through a user-defined namelist called </a:t>
            </a:r>
            <a:r>
              <a:rPr lang="en-US" b="1"/>
              <a:t>namelist.wps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WPS performs all preprocessing of data needed for a WRF numerical integration (define domains, get initial conditions…)</a:t>
            </a:r>
          </a:p>
          <a:p>
            <a:r>
              <a:rPr lang="en-US"/>
              <a:t>WPS is controlled through a user-defined namelist called </a:t>
            </a:r>
            <a:r>
              <a:rPr lang="en-US" b="1"/>
              <a:t>namelist.wps</a:t>
            </a:r>
          </a:p>
          <a:p>
            <a:r>
              <a:rPr lang="en-US"/>
              <a:t>WPS is composed of three programs: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geogrid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ungrib</a:t>
            </a:r>
          </a:p>
          <a:p>
            <a:pPr>
              <a:buFont typeface="Wingdings" pitchFamily="2" charset="2"/>
              <a:buNone/>
            </a:pPr>
            <a:r>
              <a:rPr lang="en-US"/>
              <a:t>		3)  metgrid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</a:t>
            </a:r>
          </a:p>
        </p:txBody>
      </p:sp>
      <p:pic>
        <p:nvPicPr>
          <p:cNvPr id="27653" name="Picture 5" descr="WPS_flowchar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81000" y="1371600"/>
            <a:ext cx="8534400" cy="4953000"/>
          </a:xfrm>
          <a:noFill/>
          <a:ln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Geogrid has the following purposes: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Define simulation domain (size, location, 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horizontal resolution)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Geogrid has the following purposes: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Define simulation domain (size, location, 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horizontal resolution)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Indicate which geographical data will be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used (</a:t>
            </a:r>
            <a:r>
              <a:rPr lang="en-US" b="1"/>
              <a:t>30-second</a:t>
            </a:r>
            <a:r>
              <a:rPr lang="en-US"/>
              <a:t>, 2-minute)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Geogrid has the following purposes: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Define simulation domain (size, location, 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horizontal resolution)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Indicate which geographical data will be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used (</a:t>
            </a:r>
            <a:r>
              <a:rPr lang="en-US" b="1"/>
              <a:t>30-second</a:t>
            </a:r>
            <a:r>
              <a:rPr lang="en-US"/>
              <a:t>, 2-minute)</a:t>
            </a:r>
          </a:p>
          <a:p>
            <a:pPr>
              <a:buFont typeface="Wingdings" pitchFamily="2" charset="2"/>
              <a:buNone/>
            </a:pPr>
            <a:r>
              <a:rPr lang="en-US"/>
              <a:t>		3)  Choose map projection (</a:t>
            </a:r>
            <a:r>
              <a:rPr lang="en-US" b="1"/>
              <a:t>lambert </a:t>
            </a:r>
          </a:p>
          <a:p>
            <a:pPr>
              <a:buFont typeface="Wingdings" pitchFamily="2" charset="2"/>
              <a:buNone/>
            </a:pPr>
            <a:r>
              <a:rPr lang="en-US" b="1"/>
              <a:t>              conformal</a:t>
            </a:r>
            <a:r>
              <a:rPr lang="en-US"/>
              <a:t>, polar stereographic,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mercator, lat/lon)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</a:t>
            </a:r>
          </a:p>
        </p:txBody>
      </p:sp>
      <p:pic>
        <p:nvPicPr>
          <p:cNvPr id="16389" name="Picture 5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219200"/>
            <a:ext cx="6096000" cy="5638800"/>
          </a:xfrm>
          <a:noFill/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(geogrid)</a:t>
            </a:r>
          </a:p>
        </p:txBody>
      </p:sp>
      <p:pic>
        <p:nvPicPr>
          <p:cNvPr id="21507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219200"/>
            <a:ext cx="6096000" cy="5638800"/>
          </a:xfrm>
          <a:noFill/>
          <a:ln/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828800" y="2133600"/>
            <a:ext cx="5638800" cy="3200400"/>
          </a:xfrm>
          <a:prstGeom prst="rect">
            <a:avLst/>
          </a:prstGeom>
          <a:noFill/>
          <a:ln w="635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(geogrid)</a:t>
            </a:r>
          </a:p>
        </p:txBody>
      </p:sp>
      <p:pic>
        <p:nvPicPr>
          <p:cNvPr id="22531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01" t="16499" r="4601" b="25500"/>
          <a:stretch>
            <a:fillRect/>
          </a:stretch>
        </p:blipFill>
        <p:spPr>
          <a:xfrm>
            <a:off x="304800" y="1371600"/>
            <a:ext cx="8534400" cy="5334000"/>
          </a:xfrm>
          <a:noFill/>
          <a:ln/>
        </p:spPr>
      </p:pic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5562600" y="4572000"/>
            <a:ext cx="2835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>
                <a:solidFill>
                  <a:srgbClr val="66FF33"/>
                </a:solidFill>
              </a:rPr>
              <a:t>(Each column represents a different domain)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geogrid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Geographical data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</a:t>
            </a:r>
            <a:r>
              <a:rPr lang="en-US" sz="2800" dirty="0"/>
              <a:t>(/</a:t>
            </a:r>
            <a:r>
              <a:rPr lang="en-US" sz="2800" dirty="0" err="1"/>
              <a:t>lustre</a:t>
            </a:r>
            <a:r>
              <a:rPr lang="en-US" sz="2800" dirty="0"/>
              <a:t>/research/</a:t>
            </a:r>
            <a:r>
              <a:rPr lang="en-US" sz="2800" dirty="0" err="1"/>
              <a:t>bancell</a:t>
            </a:r>
            <a:r>
              <a:rPr lang="en-US" sz="2800" dirty="0"/>
              <a:t>/geogV4/WPS_GEOG)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/>
              <a:t>namelist.wps</a:t>
            </a:r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geogrid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Geographical data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</a:t>
            </a:r>
            <a:r>
              <a:rPr lang="en-US" sz="2800" dirty="0"/>
              <a:t>(/</a:t>
            </a:r>
            <a:r>
              <a:rPr lang="en-US" sz="2800" dirty="0" err="1"/>
              <a:t>lustre</a:t>
            </a:r>
            <a:r>
              <a:rPr lang="en-US" sz="2800" dirty="0"/>
              <a:t>/research/</a:t>
            </a:r>
            <a:r>
              <a:rPr lang="en-US" sz="2800" dirty="0" err="1"/>
              <a:t>bancell</a:t>
            </a:r>
            <a:r>
              <a:rPr lang="en-US" sz="2800" dirty="0"/>
              <a:t>/geogV4/WPS_GEOG)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/>
              <a:t>namelist.wps</a:t>
            </a:r>
          </a:p>
          <a:p>
            <a:r>
              <a:rPr lang="en-US" dirty="0"/>
              <a:t>Output from </a:t>
            </a:r>
            <a:r>
              <a:rPr lang="en-US" dirty="0" err="1"/>
              <a:t>geogrid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geo_em.d01.nc (would also have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geo_em.d02.nc for 2</a:t>
            </a:r>
            <a:r>
              <a:rPr lang="en-US" baseline="30000" dirty="0"/>
              <a:t>nd</a:t>
            </a:r>
            <a:r>
              <a:rPr lang="en-US" dirty="0"/>
              <a:t> domain…)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geogrid.log files</a:t>
            </a:r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383899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b="1" u="sng" dirty="0"/>
              <a:t>Final Notes on </a:t>
            </a:r>
            <a:r>
              <a:rPr lang="en-US" b="1" u="sng" dirty="0" err="1"/>
              <a:t>geogrid</a:t>
            </a:r>
            <a:endParaRPr lang="en-US" b="1" u="sng" dirty="0"/>
          </a:p>
          <a:p>
            <a:r>
              <a:rPr lang="en-US" dirty="0" err="1"/>
              <a:t>geogrid</a:t>
            </a:r>
            <a:r>
              <a:rPr lang="en-US" dirty="0"/>
              <a:t> only needs to be run once for the same domain</a:t>
            </a:r>
          </a:p>
          <a:p>
            <a:r>
              <a:rPr lang="en-US" dirty="0"/>
              <a:t>Like most of the WRF system output, geo_em.d0X.nc files are </a:t>
            </a:r>
            <a:r>
              <a:rPr lang="en-US" dirty="0" err="1"/>
              <a:t>netcdf</a:t>
            </a:r>
            <a:r>
              <a:rPr lang="en-US" dirty="0"/>
              <a:t> files</a:t>
            </a:r>
          </a:p>
          <a:p>
            <a:r>
              <a:rPr lang="en-US" dirty="0"/>
              <a:t>Nest parameters must be </a:t>
            </a:r>
            <a:r>
              <a:rPr lang="en-US" i="1" dirty="0"/>
              <a:t>carefully</a:t>
            </a:r>
            <a:r>
              <a:rPr lang="en-US" dirty="0"/>
              <a:t> set in </a:t>
            </a:r>
            <a:r>
              <a:rPr lang="en-US" b="1" dirty="0"/>
              <a:t>namelist.wps</a:t>
            </a:r>
            <a:r>
              <a:rPr lang="en-US" dirty="0"/>
              <a:t> for </a:t>
            </a:r>
            <a:r>
              <a:rPr lang="en-US" dirty="0" err="1"/>
              <a:t>geogrid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geogrid</a:t>
            </a:r>
          </a:p>
        </p:txBody>
      </p:sp>
      <p:pic>
        <p:nvPicPr>
          <p:cNvPr id="37893" name="Picture 5" descr="ne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38200" y="1295400"/>
            <a:ext cx="7696200" cy="5368925"/>
          </a:xfrm>
          <a:noFill/>
          <a:ln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(geogrid)</a:t>
            </a:r>
          </a:p>
        </p:txBody>
      </p:sp>
      <p:pic>
        <p:nvPicPr>
          <p:cNvPr id="39939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01" t="16499" r="4601" b="25500"/>
          <a:stretch>
            <a:fillRect/>
          </a:stretch>
        </p:blipFill>
        <p:spPr>
          <a:xfrm>
            <a:off x="304800" y="1371600"/>
            <a:ext cx="8534400" cy="5334000"/>
          </a:xfrm>
          <a:noFill/>
          <a:ln/>
        </p:spPr>
      </p:pic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5562600" y="4572000"/>
            <a:ext cx="2835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>
                <a:solidFill>
                  <a:srgbClr val="66FF33"/>
                </a:solidFill>
              </a:rPr>
              <a:t>(Each column represents a different domain)</a:t>
            </a:r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H="1" flipV="1">
            <a:off x="3505200" y="4800600"/>
            <a:ext cx="0" cy="11430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 rot="-682753">
            <a:off x="3098800" y="3275013"/>
            <a:ext cx="558800" cy="1538287"/>
          </a:xfrm>
          <a:prstGeom prst="ellipse">
            <a:avLst/>
          </a:prstGeom>
          <a:noFill/>
          <a:ln w="25400">
            <a:solidFill>
              <a:srgbClr val="66FF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ungrib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ungrib</a:t>
            </a:r>
            <a:r>
              <a:rPr lang="en-US" dirty="0"/>
              <a:t> has the following purpose: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Extract fields from external </a:t>
            </a:r>
            <a:r>
              <a:rPr lang="en-US" dirty="0" err="1"/>
              <a:t>grib</a:t>
            </a:r>
            <a:r>
              <a:rPr lang="en-US" dirty="0"/>
              <a:t> files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(such as a GFS forecast) and write this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information to WPS file format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(ungrib)</a:t>
            </a:r>
          </a:p>
        </p:txBody>
      </p:sp>
      <p:pic>
        <p:nvPicPr>
          <p:cNvPr id="29699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219200"/>
            <a:ext cx="6096000" cy="5638800"/>
          </a:xfrm>
          <a:noFill/>
          <a:ln/>
        </p:spPr>
      </p:pic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1828800" y="2133600"/>
            <a:ext cx="5638800" cy="1066800"/>
          </a:xfrm>
          <a:prstGeom prst="rect">
            <a:avLst/>
          </a:prstGeom>
          <a:noFill/>
          <a:ln w="635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1828800" y="5257800"/>
            <a:ext cx="5638800" cy="685800"/>
          </a:xfrm>
          <a:prstGeom prst="rect">
            <a:avLst/>
          </a:prstGeom>
          <a:noFill/>
          <a:ln w="635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(ungrib)</a:t>
            </a:r>
          </a:p>
        </p:txBody>
      </p:sp>
      <p:pic>
        <p:nvPicPr>
          <p:cNvPr id="30723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01" t="72000" r="4601" b="16499"/>
          <a:stretch>
            <a:fillRect/>
          </a:stretch>
        </p:blipFill>
        <p:spPr>
          <a:xfrm>
            <a:off x="381000" y="3962400"/>
            <a:ext cx="8534400" cy="1219200"/>
          </a:xfrm>
          <a:noFill/>
          <a:ln/>
        </p:spPr>
      </p:pic>
      <p:pic>
        <p:nvPicPr>
          <p:cNvPr id="30726" name="Picture 6" descr="namelist"/>
          <p:cNvPicPr>
            <a:picLocks noChangeAspect="1" noChangeArrowheads="1"/>
          </p:cNvPicPr>
          <p:nvPr/>
        </p:nvPicPr>
        <p:blipFill>
          <a:blip r:embed="rId2" cstate="print"/>
          <a:srcRect l="4601" t="16499" r="4601" b="64500"/>
          <a:stretch>
            <a:fillRect/>
          </a:stretch>
        </p:blipFill>
        <p:spPr bwMode="auto">
          <a:xfrm>
            <a:off x="381000" y="1676400"/>
            <a:ext cx="8534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ungrib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ungrib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External </a:t>
            </a:r>
            <a:r>
              <a:rPr lang="en-US" dirty="0" err="1"/>
              <a:t>grib</a:t>
            </a:r>
            <a:r>
              <a:rPr lang="en-US" dirty="0"/>
              <a:t> files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/>
              <a:t>namelist.wps</a:t>
            </a:r>
          </a:p>
          <a:p>
            <a:pPr>
              <a:buFont typeface="Wingdings" pitchFamily="2" charset="2"/>
              <a:buNone/>
            </a:pPr>
            <a:r>
              <a:rPr lang="en-US" b="1" dirty="0"/>
              <a:t>		</a:t>
            </a:r>
            <a:r>
              <a:rPr lang="en-US" dirty="0"/>
              <a:t>3)  A file called </a:t>
            </a:r>
            <a:r>
              <a:rPr lang="en-US" dirty="0" err="1"/>
              <a:t>Vtable</a:t>
            </a:r>
            <a:r>
              <a:rPr lang="en-US" dirty="0"/>
              <a:t> (instructs </a:t>
            </a:r>
            <a:r>
              <a:rPr lang="en-US" dirty="0" err="1"/>
              <a:t>ungrib</a:t>
            </a:r>
            <a:r>
              <a:rPr lang="en-US" dirty="0"/>
              <a:t> to 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pull specific variables from various </a:t>
            </a:r>
            <a:r>
              <a:rPr lang="en-US" dirty="0" err="1"/>
              <a:t>grib</a:t>
            </a:r>
            <a:r>
              <a:rPr lang="en-US" dirty="0"/>
              <a:t> files)</a:t>
            </a: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ungrib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ungrib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External </a:t>
            </a:r>
            <a:r>
              <a:rPr lang="en-US" dirty="0" err="1"/>
              <a:t>grib</a:t>
            </a:r>
            <a:r>
              <a:rPr lang="en-US" dirty="0"/>
              <a:t> files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/>
              <a:t>namelist.wps</a:t>
            </a:r>
          </a:p>
          <a:p>
            <a:pPr>
              <a:buFont typeface="Wingdings" pitchFamily="2" charset="2"/>
              <a:buNone/>
            </a:pPr>
            <a:r>
              <a:rPr lang="en-US" b="1" dirty="0"/>
              <a:t>		</a:t>
            </a:r>
            <a:r>
              <a:rPr lang="en-US" dirty="0"/>
              <a:t>3)  A file called </a:t>
            </a:r>
            <a:r>
              <a:rPr lang="en-US" dirty="0" err="1"/>
              <a:t>Vtable</a:t>
            </a:r>
            <a:r>
              <a:rPr lang="en-US" dirty="0"/>
              <a:t> (instructs </a:t>
            </a:r>
            <a:r>
              <a:rPr lang="en-US" dirty="0" err="1"/>
              <a:t>ungrib</a:t>
            </a:r>
            <a:r>
              <a:rPr lang="en-US" dirty="0"/>
              <a:t> to 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pull specific variables from various </a:t>
            </a:r>
            <a:r>
              <a:rPr lang="en-US" dirty="0" err="1"/>
              <a:t>grib</a:t>
            </a:r>
            <a:r>
              <a:rPr lang="en-US" dirty="0"/>
              <a:t> files)</a:t>
            </a:r>
            <a:endParaRPr lang="en-US" b="1" dirty="0"/>
          </a:p>
          <a:p>
            <a:r>
              <a:rPr lang="en-US" dirty="0"/>
              <a:t>Output from </a:t>
            </a:r>
            <a:r>
              <a:rPr lang="en-US" dirty="0" err="1"/>
              <a:t>ungrib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WPS format files called FILE:date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ungrib.log file</a:t>
            </a: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metgrid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metgrid has the following purpose: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Interpolate external meteorological data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(originally from grib files, now in WPS 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format through program ungrib)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horizontally to defined grid points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(metgrid)</a:t>
            </a:r>
          </a:p>
        </p:txBody>
      </p:sp>
      <p:pic>
        <p:nvPicPr>
          <p:cNvPr id="34819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524000" y="1219200"/>
            <a:ext cx="6096000" cy="5638800"/>
          </a:xfrm>
          <a:noFill/>
          <a:ln/>
        </p:spPr>
      </p:pic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1828800" y="2133600"/>
            <a:ext cx="5638800" cy="1066800"/>
          </a:xfrm>
          <a:prstGeom prst="rect">
            <a:avLst/>
          </a:prstGeom>
          <a:noFill/>
          <a:ln w="635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828800" y="5867400"/>
            <a:ext cx="5638800" cy="685800"/>
          </a:xfrm>
          <a:prstGeom prst="rect">
            <a:avLst/>
          </a:prstGeom>
          <a:noFill/>
          <a:ln w="63500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namelist.wps (metgrid)</a:t>
            </a:r>
          </a:p>
        </p:txBody>
      </p:sp>
      <p:pic>
        <p:nvPicPr>
          <p:cNvPr id="35843" name="Picture 3" descr="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01" t="84000" r="4601" b="6000"/>
          <a:stretch>
            <a:fillRect/>
          </a:stretch>
        </p:blipFill>
        <p:spPr>
          <a:xfrm>
            <a:off x="381000" y="4343400"/>
            <a:ext cx="8534400" cy="1058863"/>
          </a:xfrm>
          <a:noFill/>
          <a:ln/>
        </p:spPr>
      </p:pic>
      <p:pic>
        <p:nvPicPr>
          <p:cNvPr id="35844" name="Picture 4" descr="namelist"/>
          <p:cNvPicPr>
            <a:picLocks noChangeAspect="1" noChangeArrowheads="1"/>
          </p:cNvPicPr>
          <p:nvPr/>
        </p:nvPicPr>
        <p:blipFill>
          <a:blip r:embed="rId2" cstate="print"/>
          <a:srcRect l="4601" t="16499" r="4601" b="64500"/>
          <a:stretch>
            <a:fillRect/>
          </a:stretch>
        </p:blipFill>
        <p:spPr bwMode="auto">
          <a:xfrm>
            <a:off x="381000" y="1676400"/>
            <a:ext cx="8534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metgrid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Input files needed to run metgrid: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FILE:date files from ungrib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geo_em.d0X.nc files from geogrid</a:t>
            </a:r>
          </a:p>
          <a:p>
            <a:pPr>
              <a:buFont typeface="Wingdings" pitchFamily="2" charset="2"/>
              <a:buNone/>
            </a:pPr>
            <a:r>
              <a:rPr lang="en-US"/>
              <a:t>		3)  </a:t>
            </a:r>
            <a:r>
              <a:rPr lang="en-US" b="1"/>
              <a:t>namelist.wps</a:t>
            </a:r>
          </a:p>
          <a:p>
            <a:pPr>
              <a:buFont typeface="Wingdings" pitchFamily="2" charset="2"/>
              <a:buNone/>
            </a:pPr>
            <a:endParaRPr lang="en-US" b="1"/>
          </a:p>
          <a:p>
            <a:pPr>
              <a:buFont typeface="Wingdings" pitchFamily="2" charset="2"/>
              <a:buNone/>
            </a:pPr>
            <a:r>
              <a:rPr lang="en-US"/>
              <a:t>		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metgrid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metgrid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FILE:date files from </a:t>
            </a:r>
            <a:r>
              <a:rPr lang="en-US" dirty="0" err="1"/>
              <a:t>ungrib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2)  geo_em.d0X.nc files from </a:t>
            </a:r>
            <a:r>
              <a:rPr lang="en-US" dirty="0" err="1"/>
              <a:t>geogrid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3)  </a:t>
            </a:r>
            <a:r>
              <a:rPr lang="en-US" b="1" dirty="0"/>
              <a:t>namelist.wps</a:t>
            </a:r>
          </a:p>
          <a:p>
            <a:r>
              <a:rPr lang="en-US" dirty="0"/>
              <a:t>Output from </a:t>
            </a:r>
            <a:r>
              <a:rPr lang="en-US" dirty="0" err="1"/>
              <a:t>metgrid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A set of files called met_em.d01.date.nc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(and met_em.d0X for nests)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metgrid.log files</a:t>
            </a: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WPS - metgrid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b="1" u="sng" dirty="0"/>
              <a:t>Final Notes on </a:t>
            </a:r>
            <a:r>
              <a:rPr lang="en-US" b="1" u="sng" dirty="0" err="1"/>
              <a:t>metgrid</a:t>
            </a:r>
            <a:r>
              <a:rPr lang="en-US" b="1" u="sng" dirty="0"/>
              <a:t> and WPS</a:t>
            </a:r>
          </a:p>
          <a:p>
            <a:r>
              <a:rPr lang="en-US" dirty="0"/>
              <a:t>met_em.d0X.date.nc files are </a:t>
            </a:r>
            <a:r>
              <a:rPr lang="en-US" dirty="0" err="1"/>
              <a:t>netcdf</a:t>
            </a:r>
            <a:r>
              <a:rPr lang="en-US" dirty="0"/>
              <a:t> files</a:t>
            </a:r>
          </a:p>
          <a:p>
            <a:r>
              <a:rPr lang="en-US" dirty="0"/>
              <a:t>All 3 WPS programs are run in the same directory (/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/WPSV4)</a:t>
            </a:r>
          </a:p>
          <a:p>
            <a:r>
              <a:rPr lang="en-US" b="1" dirty="0"/>
              <a:t>Make sure to clean up files before each new WPS run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WRF Initialization (real)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 has the following purposes: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Create vertical model levels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WRF Initialization (real)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 has the following purposes: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Create vertical model levels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Interpolate meteorological data to vertical 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model levels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WRF Initialization (real)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has the following purposes: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Create vertical model levels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Interpolate meteorological data to vertical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model levels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3)  Create input files (initial and boundary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conditions) for numerical integration 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Input files needed to run real: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met_em.d0X.data.nc files from metgrid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</a:t>
            </a:r>
            <a:r>
              <a:rPr lang="en-US" b="1"/>
              <a:t>namelist.input </a:t>
            </a:r>
            <a:r>
              <a:rPr lang="en-US"/>
              <a:t>(parameter file for real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and wrf)</a:t>
            </a:r>
            <a:endParaRPr lang="en-US" b="1"/>
          </a:p>
          <a:p>
            <a:pPr>
              <a:buFont typeface="Wingdings" pitchFamily="2" charset="2"/>
              <a:buNone/>
            </a:pPr>
            <a:endParaRPr lang="en-US" b="1"/>
          </a:p>
          <a:p>
            <a:pPr>
              <a:buFont typeface="Wingdings" pitchFamily="2" charset="2"/>
              <a:buNone/>
            </a:pPr>
            <a:endParaRPr lang="en-US" b="1"/>
          </a:p>
          <a:p>
            <a:pPr>
              <a:buFont typeface="Wingdings" pitchFamily="2" charset="2"/>
              <a:buNone/>
            </a:pPr>
            <a:r>
              <a:rPr lang="en-US"/>
              <a:t>		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files needed to run real: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met_em.d0X.data.nc files from </a:t>
            </a:r>
            <a:r>
              <a:rPr lang="en-US" dirty="0" err="1"/>
              <a:t>metgrid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 err="1"/>
              <a:t>namelist.input</a:t>
            </a:r>
            <a:r>
              <a:rPr lang="en-US" b="1" dirty="0"/>
              <a:t> </a:t>
            </a:r>
            <a:r>
              <a:rPr lang="en-US" dirty="0"/>
              <a:t>(parameter file for real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and </a:t>
            </a:r>
            <a:r>
              <a:rPr lang="en-US" dirty="0" err="1"/>
              <a:t>wrf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Output from real: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wrfinput_d01 and wrfbdy_d01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(additional wrfinput_d0X files if more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than 1 domain)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Log files (</a:t>
            </a:r>
            <a:r>
              <a:rPr lang="en-US" dirty="0" err="1"/>
              <a:t>rsl.out.XXXX</a:t>
            </a:r>
            <a:r>
              <a:rPr lang="en-US" dirty="0"/>
              <a:t>, </a:t>
            </a:r>
            <a:r>
              <a:rPr lang="en-US" dirty="0" err="1"/>
              <a:t>rsl.error.XXXX</a:t>
            </a:r>
            <a:r>
              <a:rPr lang="en-US" dirty="0"/>
              <a:t>)</a:t>
            </a: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namelist.input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 runs using parameters from the text file </a:t>
            </a:r>
            <a:r>
              <a:rPr lang="en-US" b="1"/>
              <a:t>namelist.input</a:t>
            </a:r>
            <a:r>
              <a:rPr lang="en-US"/>
              <a:t>, which has the following basic sections:</a:t>
            </a:r>
          </a:p>
          <a:p>
            <a:pPr>
              <a:buFont typeface="Wingdings" pitchFamily="2" charset="2"/>
              <a:buNone/>
            </a:pPr>
            <a:r>
              <a:rPr lang="en-US" b="1"/>
              <a:t>		</a:t>
            </a:r>
            <a:r>
              <a:rPr lang="en-US"/>
              <a:t>1)  time_control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domains</a:t>
            </a:r>
          </a:p>
          <a:p>
            <a:pPr>
              <a:buFont typeface="Wingdings" pitchFamily="2" charset="2"/>
              <a:buNone/>
            </a:pPr>
            <a:r>
              <a:rPr lang="en-US"/>
              <a:t>		3)  physics</a:t>
            </a:r>
          </a:p>
          <a:p>
            <a:pPr>
              <a:buFont typeface="Wingdings" pitchFamily="2" charset="2"/>
              <a:buNone/>
            </a:pPr>
            <a:r>
              <a:rPr lang="en-US"/>
              <a:t>		4)  dynamics</a:t>
            </a:r>
          </a:p>
          <a:p>
            <a:pPr>
              <a:buFont typeface="Wingdings" pitchFamily="2" charset="2"/>
              <a:buNone/>
            </a:pPr>
            <a:r>
              <a:rPr lang="en-US"/>
              <a:t>		5)  bdy_control</a:t>
            </a:r>
            <a:endParaRPr lang="en-US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namelist.input</a:t>
            </a:r>
          </a:p>
        </p:txBody>
      </p:sp>
      <p:pic>
        <p:nvPicPr>
          <p:cNvPr id="48133" name="Picture 5" descr="WRF_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981200" y="1143000"/>
            <a:ext cx="5040313" cy="5105400"/>
          </a:xfrm>
          <a:noFill/>
          <a:ln/>
        </p:spPr>
      </p:pic>
      <p:sp>
        <p:nvSpPr>
          <p:cNvPr id="48134" name="Line 6"/>
          <p:cNvSpPr>
            <a:spLocks noChangeShapeType="1"/>
          </p:cNvSpPr>
          <p:nvPr/>
        </p:nvSpPr>
        <p:spPr bwMode="auto">
          <a:xfrm>
            <a:off x="4419600" y="6019800"/>
            <a:ext cx="0" cy="838200"/>
          </a:xfrm>
          <a:prstGeom prst="line">
            <a:avLst/>
          </a:prstGeom>
          <a:noFill/>
          <a:ln w="44450">
            <a:solidFill>
              <a:srgbClr val="66FF33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3581400" y="6248400"/>
            <a:ext cx="2530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>
                <a:solidFill>
                  <a:srgbClr val="66FF33"/>
                </a:solidFill>
              </a:rPr>
              <a:t>Much    More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namelist.input – time_control</a:t>
            </a:r>
          </a:p>
        </p:txBody>
      </p:sp>
      <p:pic>
        <p:nvPicPr>
          <p:cNvPr id="50181" name="Picture 5" descr="WRF_nameli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138" t="13617" r="4138" b="31319"/>
          <a:stretch>
            <a:fillRect/>
          </a:stretch>
        </p:blipFill>
        <p:spPr>
          <a:xfrm>
            <a:off x="685800" y="1447800"/>
            <a:ext cx="7924800" cy="4818063"/>
          </a:xfrm>
          <a:noFill/>
          <a:ln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namelist.input – domains</a:t>
            </a:r>
          </a:p>
        </p:txBody>
      </p:sp>
      <p:pic>
        <p:nvPicPr>
          <p:cNvPr id="52229" name="Picture 5" descr="domain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138" t="19037" r="4138" b="20396"/>
          <a:stretch>
            <a:fillRect/>
          </a:stretch>
        </p:blipFill>
        <p:spPr>
          <a:xfrm>
            <a:off x="838200" y="1371600"/>
            <a:ext cx="7772400" cy="5202238"/>
          </a:xfrm>
          <a:noFill/>
          <a:ln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namelist.input – physics</a:t>
            </a:r>
          </a:p>
        </p:txBody>
      </p:sp>
      <p:pic>
        <p:nvPicPr>
          <p:cNvPr id="53253" name="Picture 5" descr="physics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144" t="17677" r="4144" b="36714"/>
          <a:stretch>
            <a:fillRect/>
          </a:stretch>
        </p:blipFill>
        <p:spPr>
          <a:xfrm>
            <a:off x="381000" y="1676400"/>
            <a:ext cx="8458200" cy="4267200"/>
          </a:xfrm>
          <a:noFill/>
          <a:ln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namelist.input – dynamics</a:t>
            </a:r>
          </a:p>
        </p:txBody>
      </p:sp>
      <p:pic>
        <p:nvPicPr>
          <p:cNvPr id="55300" name="Picture 4" descr="dynamics_bd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132" t="24580" r="4132" b="45064"/>
          <a:stretch>
            <a:fillRect/>
          </a:stretch>
        </p:blipFill>
        <p:spPr>
          <a:xfrm>
            <a:off x="533400" y="1752600"/>
            <a:ext cx="8229600" cy="2744788"/>
          </a:xfrm>
          <a:noFill/>
          <a:ln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namelist.input – bdy_control</a:t>
            </a:r>
          </a:p>
        </p:txBody>
      </p:sp>
      <p:pic>
        <p:nvPicPr>
          <p:cNvPr id="54276" name="Picture 4" descr="dynamics_bd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132" t="54623" r="4132" b="30043"/>
          <a:stretch>
            <a:fillRect/>
          </a:stretch>
        </p:blipFill>
        <p:spPr>
          <a:xfrm>
            <a:off x="609600" y="2057400"/>
            <a:ext cx="8001000" cy="1347788"/>
          </a:xfrm>
          <a:noFill/>
          <a:ln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WRF Numerical Integration (wrf)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wrf has the following purpose: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Numerically approximate the solutions to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the model equations to produce a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forecast!!!!  Finally!!!!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wrf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wrf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	1)  wrfinput_d01 (and wrfinput_d0X for </a:t>
            </a:r>
          </a:p>
          <a:p>
            <a:pPr>
              <a:buNone/>
            </a:pPr>
            <a:r>
              <a:rPr lang="en-US" dirty="0"/>
              <a:t>              nests), wrfbdy_d01 files from real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 err="1"/>
              <a:t>namelist.input</a:t>
            </a:r>
            <a:r>
              <a:rPr lang="en-US" b="1" dirty="0"/>
              <a:t> </a:t>
            </a:r>
            <a:r>
              <a:rPr lang="en-US" dirty="0"/>
              <a:t>(parameter file for real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and </a:t>
            </a:r>
            <a:r>
              <a:rPr lang="en-US" dirty="0" err="1"/>
              <a:t>wrf</a:t>
            </a:r>
            <a:r>
              <a:rPr lang="en-US" dirty="0"/>
              <a:t>)</a:t>
            </a:r>
            <a:endParaRPr lang="en-US" b="1" dirty="0"/>
          </a:p>
          <a:p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wrf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files needed to run </a:t>
            </a:r>
            <a:r>
              <a:rPr lang="en-US" dirty="0" err="1"/>
              <a:t>wrf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wrfinput_d01 (and wrfinput_d0X for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nests), wrfbdy_d01 files from real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</a:t>
            </a:r>
            <a:r>
              <a:rPr lang="en-US" b="1" dirty="0" err="1"/>
              <a:t>namelist.input</a:t>
            </a:r>
            <a:r>
              <a:rPr lang="en-US" b="1" dirty="0"/>
              <a:t> </a:t>
            </a:r>
            <a:r>
              <a:rPr lang="en-US" dirty="0"/>
              <a:t>(parameter file for real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and </a:t>
            </a:r>
            <a:r>
              <a:rPr lang="en-US" dirty="0" err="1"/>
              <a:t>wrf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Output from </a:t>
            </a:r>
            <a:r>
              <a:rPr lang="en-US" dirty="0" err="1"/>
              <a:t>wrf</a:t>
            </a:r>
            <a:r>
              <a:rPr lang="en-US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wrfout_d01.date.nc (wrfout_d0X.date.nc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  for more than one domain)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Log files (</a:t>
            </a:r>
            <a:r>
              <a:rPr lang="en-US" dirty="0" err="1"/>
              <a:t>rsl.out.XXXX</a:t>
            </a:r>
            <a:r>
              <a:rPr lang="en-US" dirty="0"/>
              <a:t>, </a:t>
            </a:r>
            <a:r>
              <a:rPr lang="en-US" dirty="0" err="1"/>
              <a:t>rsl.error.XXXX</a:t>
            </a:r>
            <a:r>
              <a:rPr lang="en-US" dirty="0"/>
              <a:t>)</a:t>
            </a:r>
            <a:endParaRPr lang="en-US" b="1" dirty="0"/>
          </a:p>
          <a:p>
            <a:pPr>
              <a:buFont typeface="Wingdings" pitchFamily="2" charset="2"/>
              <a:buNone/>
            </a:pPr>
            <a:endParaRPr lang="en-US" b="1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and wrf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b="1" u="sng" dirty="0"/>
              <a:t>Final Notes on real and </a:t>
            </a:r>
            <a:r>
              <a:rPr lang="en-US" b="1" u="sng" dirty="0" err="1"/>
              <a:t>wrf</a:t>
            </a:r>
            <a:endParaRPr lang="en-US" b="1" u="sng" dirty="0"/>
          </a:p>
          <a:p>
            <a:r>
              <a:rPr lang="en-US" dirty="0"/>
              <a:t>All output files from real and </a:t>
            </a:r>
            <a:r>
              <a:rPr lang="en-US" dirty="0" err="1"/>
              <a:t>wrf</a:t>
            </a:r>
            <a:r>
              <a:rPr lang="en-US" dirty="0"/>
              <a:t> are </a:t>
            </a:r>
            <a:r>
              <a:rPr lang="en-US" dirty="0" err="1"/>
              <a:t>netcdf</a:t>
            </a:r>
            <a:r>
              <a:rPr lang="en-US" dirty="0"/>
              <a:t> files, and the contents of </a:t>
            </a:r>
            <a:r>
              <a:rPr lang="en-US" dirty="0" err="1"/>
              <a:t>netcdf</a:t>
            </a:r>
            <a:r>
              <a:rPr lang="en-US" dirty="0"/>
              <a:t> files can be viewed with the command: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                </a:t>
            </a:r>
            <a:r>
              <a:rPr lang="en-US" sz="2800" dirty="0" err="1"/>
              <a:t>ncdump</a:t>
            </a:r>
            <a:r>
              <a:rPr lang="en-US" sz="2800" dirty="0"/>
              <a:t>  –h  filename</a:t>
            </a:r>
          </a:p>
          <a:p>
            <a:r>
              <a:rPr lang="en-US" dirty="0"/>
              <a:t>To view the contents of a single variable in a </a:t>
            </a:r>
            <a:r>
              <a:rPr lang="en-US" dirty="0" err="1"/>
              <a:t>netcdf</a:t>
            </a:r>
            <a:r>
              <a:rPr lang="en-US" dirty="0"/>
              <a:t> file, such as the variable “Times”, type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                        </a:t>
            </a:r>
            <a:r>
              <a:rPr lang="en-US" sz="2800" dirty="0" err="1"/>
              <a:t>ncdump</a:t>
            </a:r>
            <a:r>
              <a:rPr lang="en-US" sz="2800" dirty="0"/>
              <a:t>  –v  Times  filename</a:t>
            </a:r>
          </a:p>
          <a:p>
            <a:pPr>
              <a:buFont typeface="Wingdings" pitchFamily="2" charset="2"/>
              <a:buNone/>
            </a:pPr>
            <a:endParaRPr lang="en-US" sz="2400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and wrf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b="1" u="sng"/>
              <a:t>Final Notes on real and wrf</a:t>
            </a:r>
          </a:p>
          <a:p>
            <a:r>
              <a:rPr lang="en-US" sz="2800"/>
              <a:t>Make sure to check the log files after a real and a wrf run to make sure your model run actually ran</a:t>
            </a:r>
          </a:p>
          <a:p>
            <a:pPr>
              <a:buFont typeface="Wingdings" pitchFamily="2" charset="2"/>
              <a:buNone/>
            </a:pPr>
            <a:endParaRPr lang="en-US" sz="2800"/>
          </a:p>
          <a:p>
            <a:pPr>
              <a:buFont typeface="Wingdings" pitchFamily="2" charset="2"/>
              <a:buNone/>
            </a:pPr>
            <a:endParaRPr lang="en-US"/>
          </a:p>
          <a:p>
            <a:pPr>
              <a:buFont typeface="Wingdings" pitchFamily="2" charset="2"/>
              <a:buNone/>
            </a:pPr>
            <a:r>
              <a:rPr lang="en-US"/>
              <a:t>		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and wrf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b="1" u="sng" dirty="0"/>
              <a:t>Final Notes on real and </a:t>
            </a:r>
            <a:r>
              <a:rPr lang="en-US" b="1" u="sng" dirty="0" err="1"/>
              <a:t>wrf</a:t>
            </a:r>
            <a:endParaRPr lang="en-US" b="1" u="sng" dirty="0"/>
          </a:p>
          <a:p>
            <a:r>
              <a:rPr lang="en-US" sz="2800" dirty="0"/>
              <a:t>Make sure to check the log files after a real and a </a:t>
            </a:r>
            <a:r>
              <a:rPr lang="en-US" sz="2800" dirty="0" err="1"/>
              <a:t>wrf</a:t>
            </a:r>
            <a:r>
              <a:rPr lang="en-US" sz="2800" dirty="0"/>
              <a:t> run to make sure your model run actually ran</a:t>
            </a:r>
          </a:p>
          <a:p>
            <a:r>
              <a:rPr lang="en-US" sz="2800" dirty="0"/>
              <a:t>real and </a:t>
            </a:r>
            <a:r>
              <a:rPr lang="en-US" sz="2800" dirty="0" err="1"/>
              <a:t>wrf</a:t>
            </a:r>
            <a:r>
              <a:rPr lang="en-US" sz="2800" dirty="0"/>
              <a:t> are run in the same directory: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	   /</a:t>
            </a:r>
            <a:r>
              <a:rPr lang="en-US" sz="2800" dirty="0" err="1"/>
              <a:t>lustre</a:t>
            </a:r>
            <a:r>
              <a:rPr lang="en-US" sz="2800" dirty="0"/>
              <a:t>/work/</a:t>
            </a:r>
            <a:r>
              <a:rPr lang="en-US" sz="2800" dirty="0" err="1"/>
              <a:t>your_userID</a:t>
            </a:r>
            <a:r>
              <a:rPr lang="en-US" sz="2800" dirty="0"/>
              <a:t>/WRFV4/run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and wrf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b="1" u="sng" dirty="0"/>
              <a:t>Final Notes on real and </a:t>
            </a:r>
            <a:r>
              <a:rPr lang="en-US" b="1" u="sng" dirty="0" err="1"/>
              <a:t>wrf</a:t>
            </a:r>
            <a:endParaRPr lang="en-US" b="1" u="sng" dirty="0"/>
          </a:p>
          <a:p>
            <a:r>
              <a:rPr lang="en-US" sz="2800" dirty="0"/>
              <a:t>Make sure to check the log files after a real and a </a:t>
            </a:r>
            <a:r>
              <a:rPr lang="en-US" sz="2800" dirty="0" err="1"/>
              <a:t>wrf</a:t>
            </a:r>
            <a:r>
              <a:rPr lang="en-US" sz="2800" dirty="0"/>
              <a:t> run to make sure your model run actually ran</a:t>
            </a:r>
          </a:p>
          <a:p>
            <a:r>
              <a:rPr lang="en-US" sz="2800" dirty="0"/>
              <a:t>real and </a:t>
            </a:r>
            <a:r>
              <a:rPr lang="en-US" sz="2800" dirty="0" err="1"/>
              <a:t>wrf</a:t>
            </a:r>
            <a:r>
              <a:rPr lang="en-US" sz="2800" dirty="0"/>
              <a:t> are run in the same directory: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	   /</a:t>
            </a:r>
            <a:r>
              <a:rPr lang="en-US" sz="2800" dirty="0" err="1"/>
              <a:t>lustre</a:t>
            </a:r>
            <a:r>
              <a:rPr lang="en-US" sz="2800" dirty="0"/>
              <a:t>/work/</a:t>
            </a:r>
            <a:r>
              <a:rPr lang="en-US" sz="2800" dirty="0" err="1"/>
              <a:t>your_userID</a:t>
            </a:r>
            <a:r>
              <a:rPr lang="en-US" sz="2800" dirty="0"/>
              <a:t>/WRFV4/run</a:t>
            </a:r>
          </a:p>
          <a:p>
            <a:r>
              <a:rPr lang="en-US" sz="2800" dirty="0"/>
              <a:t>Look at file </a:t>
            </a:r>
            <a:r>
              <a:rPr lang="en-US" sz="2800" dirty="0" err="1"/>
              <a:t>README.namelist</a:t>
            </a:r>
            <a:r>
              <a:rPr lang="en-US" sz="2800" dirty="0"/>
              <a:t> in /</a:t>
            </a:r>
            <a:r>
              <a:rPr lang="en-US" sz="2800" dirty="0" err="1"/>
              <a:t>lustre</a:t>
            </a:r>
            <a:r>
              <a:rPr lang="en-US" sz="2800" dirty="0"/>
              <a:t>/work/</a:t>
            </a:r>
            <a:r>
              <a:rPr lang="en-US" sz="2800" dirty="0" err="1"/>
              <a:t>your_userID</a:t>
            </a:r>
            <a:r>
              <a:rPr lang="en-US" sz="2800" dirty="0"/>
              <a:t>/WRFV4/run for a description of all </a:t>
            </a:r>
            <a:r>
              <a:rPr lang="en-US" sz="2800" dirty="0" err="1"/>
              <a:t>namelist</a:t>
            </a:r>
            <a:r>
              <a:rPr lang="en-US" sz="2800" dirty="0"/>
              <a:t> variables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	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 (RIP)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RIP has the following purpose: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Forecasts have been made, now we have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to look at them – RIP produces plots of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desired forecast variables</a:t>
            </a:r>
          </a:p>
          <a:p>
            <a:pPr>
              <a:buFont typeface="Wingdings" pitchFamily="2" charset="2"/>
              <a:buNone/>
            </a:pPr>
            <a:endParaRPr lang="en-US"/>
          </a:p>
          <a:p>
            <a:pPr>
              <a:buFont typeface="Wingdings" pitchFamily="2" charset="2"/>
              <a:buNone/>
            </a:pPr>
            <a:endParaRPr lang="en-US"/>
          </a:p>
          <a:p>
            <a:pPr>
              <a:buFont typeface="Wingdings" pitchFamily="2" charset="2"/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 (RIP)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RIP has the following purpose: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Forecasts have been made, now we have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to look at them – RIP produces plots of </a:t>
            </a:r>
          </a:p>
          <a:p>
            <a:pPr>
              <a:buFont typeface="Wingdings" pitchFamily="2" charset="2"/>
              <a:buNone/>
            </a:pPr>
            <a:r>
              <a:rPr lang="en-US"/>
              <a:t>              desired forecast variables</a:t>
            </a:r>
          </a:p>
          <a:p>
            <a:pPr>
              <a:buFont typeface="Wingdings" pitchFamily="2" charset="2"/>
              <a:buNone/>
            </a:pPr>
            <a:endParaRPr lang="en-US"/>
          </a:p>
          <a:p>
            <a:r>
              <a:rPr lang="en-US"/>
              <a:t>RIP runs using 2 programs:</a:t>
            </a:r>
          </a:p>
          <a:p>
            <a:pPr>
              <a:buFont typeface="Wingdings" pitchFamily="2" charset="2"/>
              <a:buNone/>
            </a:pPr>
            <a:r>
              <a:rPr lang="en-US"/>
              <a:t>		1)  ripdp_wrfarw – data preparation</a:t>
            </a:r>
          </a:p>
          <a:p>
            <a:pPr>
              <a:buFont typeface="Wingdings" pitchFamily="2" charset="2"/>
              <a:buNone/>
            </a:pPr>
            <a:r>
              <a:rPr lang="en-US"/>
              <a:t>		2)  rip - plotting</a:t>
            </a:r>
          </a:p>
          <a:p>
            <a:pPr>
              <a:buFont typeface="Wingdings" pitchFamily="2" charset="2"/>
              <a:buNone/>
            </a:pPr>
            <a:endParaRPr lang="en-US"/>
          </a:p>
          <a:p>
            <a:pPr>
              <a:buFont typeface="Wingdings" pitchFamily="2" charset="2"/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ripdp_wrfarw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dirty="0" err="1"/>
              <a:t>ripdp_wrfarw</a:t>
            </a:r>
            <a:r>
              <a:rPr lang="en-US" dirty="0"/>
              <a:t> is run with 3 arguments: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</a:p>
          <a:p>
            <a:pPr>
              <a:buFont typeface="Wingdings" pitchFamily="2" charset="2"/>
              <a:buNone/>
            </a:pPr>
            <a:r>
              <a:rPr lang="en-US" b="1" dirty="0" err="1"/>
              <a:t>ripdp_wrfarw</a:t>
            </a:r>
            <a:r>
              <a:rPr lang="en-US" b="1" dirty="0"/>
              <a:t>  data/</a:t>
            </a:r>
            <a:r>
              <a:rPr lang="en-US" b="1" dirty="0" err="1"/>
              <a:t>wrfoutdata</a:t>
            </a:r>
            <a:r>
              <a:rPr lang="en-US" b="1" dirty="0"/>
              <a:t>  all  </a:t>
            </a:r>
            <a:r>
              <a:rPr lang="en-US" b="1" dirty="0" err="1"/>
              <a:t>wrfout_files</a:t>
            </a:r>
            <a:endParaRPr lang="en-US" b="1" dirty="0"/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0" y="4495800"/>
            <a:ext cx="3216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ripdp_wrfarw execute command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4724400" y="5638800"/>
            <a:ext cx="3216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2) Tells ripdp_wrfarw to process all variables</a:t>
            </a: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685800" y="5257800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1) Location where intermediate RIP data will go from ripdp_wrfarw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5867400" y="4648200"/>
            <a:ext cx="3276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3) wrfout file from program WRF</a:t>
            </a:r>
          </a:p>
        </p:txBody>
      </p:sp>
      <p:sp>
        <p:nvSpPr>
          <p:cNvPr id="70664" name="Line 8"/>
          <p:cNvSpPr>
            <a:spLocks noChangeShapeType="1"/>
          </p:cNvSpPr>
          <p:nvPr/>
        </p:nvSpPr>
        <p:spPr bwMode="auto">
          <a:xfrm flipV="1">
            <a:off x="1752600" y="3810000"/>
            <a:ext cx="22860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 flipV="1">
            <a:off x="5105400" y="3886200"/>
            <a:ext cx="990600" cy="17526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666" name="Line 10"/>
          <p:cNvSpPr>
            <a:spLocks noChangeShapeType="1"/>
          </p:cNvSpPr>
          <p:nvPr/>
        </p:nvSpPr>
        <p:spPr bwMode="auto">
          <a:xfrm flipV="1">
            <a:off x="3505200" y="3810000"/>
            <a:ext cx="838200" cy="1447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667" name="Line 11"/>
          <p:cNvSpPr>
            <a:spLocks noChangeShapeType="1"/>
          </p:cNvSpPr>
          <p:nvPr/>
        </p:nvSpPr>
        <p:spPr bwMode="auto">
          <a:xfrm flipH="1" flipV="1">
            <a:off x="7543800" y="3810000"/>
            <a:ext cx="457200" cy="9144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rip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 is run using 2 arguments:</a:t>
            </a:r>
          </a:p>
          <a:p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                   </a:t>
            </a:r>
            <a:r>
              <a:rPr lang="en-US" b="1" dirty="0"/>
              <a:t>rip   data/</a:t>
            </a:r>
            <a:r>
              <a:rPr lang="en-US" b="1" dirty="0" err="1"/>
              <a:t>wrfoutdata</a:t>
            </a:r>
            <a:r>
              <a:rPr lang="en-US" b="1" dirty="0"/>
              <a:t>   sfct.in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533400" y="4343400"/>
            <a:ext cx="3216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rip execute command</a:t>
            </a:r>
          </a:p>
        </p:txBody>
      </p:sp>
      <p:sp>
        <p:nvSpPr>
          <p:cNvPr id="71685" name="Line 5"/>
          <p:cNvSpPr>
            <a:spLocks noChangeShapeType="1"/>
          </p:cNvSpPr>
          <p:nvPr/>
        </p:nvSpPr>
        <p:spPr bwMode="auto">
          <a:xfrm flipV="1">
            <a:off x="1905000" y="3276600"/>
            <a:ext cx="685800" cy="1066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1066800" y="5334000"/>
            <a:ext cx="3216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1) Temporary data name and location from ripdp_wrfarw</a:t>
            </a:r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5791200" y="4495800"/>
            <a:ext cx="3216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2) rip input file that tells rip what to plot</a:t>
            </a:r>
          </a:p>
        </p:txBody>
      </p:sp>
      <p:sp>
        <p:nvSpPr>
          <p:cNvPr id="71688" name="Line 8"/>
          <p:cNvSpPr>
            <a:spLocks noChangeShapeType="1"/>
          </p:cNvSpPr>
          <p:nvPr/>
        </p:nvSpPr>
        <p:spPr bwMode="auto">
          <a:xfrm flipH="1" flipV="1">
            <a:off x="6629400" y="3276600"/>
            <a:ext cx="685800" cy="1219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1689" name="Line 9"/>
          <p:cNvSpPr>
            <a:spLocks noChangeShapeType="1"/>
          </p:cNvSpPr>
          <p:nvPr/>
        </p:nvSpPr>
        <p:spPr bwMode="auto">
          <a:xfrm flipV="1">
            <a:off x="3124200" y="3352800"/>
            <a:ext cx="990600" cy="20574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rip input file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formatted file with the “.in” extension (e.g. slp.in) tells rip what to plot and how to plot it</a:t>
            </a:r>
          </a:p>
          <a:p>
            <a:pPr>
              <a:buFont typeface="Wingding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rip input file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formatted file with the “.in” extension (e.g. </a:t>
            </a:r>
            <a:r>
              <a:rPr lang="en-US" dirty="0" err="1"/>
              <a:t>slp.in</a:t>
            </a:r>
            <a:r>
              <a:rPr lang="en-US" dirty="0"/>
              <a:t>) tells rip what to plot and how to plot it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r>
              <a:rPr lang="en-US" dirty="0"/>
              <a:t>There are 3 sections to every .in file: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1)  User input section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2)  Color table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3)  Plot specification table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slp2.in</a:t>
            </a:r>
          </a:p>
        </p:txBody>
      </p:sp>
      <p:pic>
        <p:nvPicPr>
          <p:cNvPr id="73733" name="Picture 5" descr="rip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52" t="16382" r="4652"/>
          <a:stretch>
            <a:fillRect/>
          </a:stretch>
        </p:blipFill>
        <p:spPr>
          <a:xfrm>
            <a:off x="1676400" y="1295400"/>
            <a:ext cx="5943600" cy="5186363"/>
          </a:xfrm>
          <a:noFill/>
          <a:ln/>
        </p:spPr>
      </p:pic>
      <p:sp>
        <p:nvSpPr>
          <p:cNvPr id="73734" name="Line 6"/>
          <p:cNvSpPr>
            <a:spLocks noChangeShapeType="1"/>
          </p:cNvSpPr>
          <p:nvPr/>
        </p:nvSpPr>
        <p:spPr bwMode="auto">
          <a:xfrm>
            <a:off x="4419600" y="6477000"/>
            <a:ext cx="0" cy="381000"/>
          </a:xfrm>
          <a:prstGeom prst="line">
            <a:avLst/>
          </a:prstGeom>
          <a:noFill/>
          <a:ln w="44450">
            <a:solidFill>
              <a:srgbClr val="66FF33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3581400" y="6461125"/>
            <a:ext cx="2530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>
                <a:solidFill>
                  <a:srgbClr val="66FF33"/>
                </a:solidFill>
              </a:rPr>
              <a:t>Much    More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Input Section</a:t>
            </a:r>
          </a:p>
        </p:txBody>
      </p:sp>
      <p:pic>
        <p:nvPicPr>
          <p:cNvPr id="76805" name="Picture 5" descr="rip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52" t="16382" r="4652" b="60614"/>
          <a:stretch>
            <a:fillRect/>
          </a:stretch>
        </p:blipFill>
        <p:spPr>
          <a:xfrm>
            <a:off x="533400" y="1676400"/>
            <a:ext cx="8153400" cy="1957388"/>
          </a:xfrm>
          <a:noFill/>
          <a:ln/>
        </p:spPr>
      </p:pic>
      <p:sp>
        <p:nvSpPr>
          <p:cNvPr id="76807" name="Line 7"/>
          <p:cNvSpPr>
            <a:spLocks noChangeShapeType="1"/>
          </p:cNvSpPr>
          <p:nvPr/>
        </p:nvSpPr>
        <p:spPr bwMode="auto">
          <a:xfrm flipH="1">
            <a:off x="6248400" y="2590800"/>
            <a:ext cx="1981200" cy="0"/>
          </a:xfrm>
          <a:prstGeom prst="line">
            <a:avLst/>
          </a:prstGeom>
          <a:noFill/>
          <a:ln w="25400">
            <a:solidFill>
              <a:srgbClr val="66FF33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 flipH="1">
            <a:off x="2667000" y="1981200"/>
            <a:ext cx="1981200" cy="0"/>
          </a:xfrm>
          <a:prstGeom prst="line">
            <a:avLst/>
          </a:prstGeom>
          <a:noFill/>
          <a:ln w="25400">
            <a:solidFill>
              <a:srgbClr val="66FF33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 Table</a:t>
            </a:r>
          </a:p>
        </p:txBody>
      </p:sp>
      <p:pic>
        <p:nvPicPr>
          <p:cNvPr id="78853" name="Picture 5" descr="rip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4652" t="39317" r="4652"/>
          <a:stretch>
            <a:fillRect/>
          </a:stretch>
        </p:blipFill>
        <p:spPr>
          <a:xfrm>
            <a:off x="1066800" y="1295400"/>
            <a:ext cx="7086600" cy="4489450"/>
          </a:xfrm>
          <a:noFill/>
          <a:ln/>
        </p:spPr>
      </p:pic>
      <p:sp>
        <p:nvSpPr>
          <p:cNvPr id="78854" name="Line 6"/>
          <p:cNvSpPr>
            <a:spLocks noChangeShapeType="1"/>
          </p:cNvSpPr>
          <p:nvPr/>
        </p:nvSpPr>
        <p:spPr bwMode="auto">
          <a:xfrm>
            <a:off x="4267200" y="5410200"/>
            <a:ext cx="0" cy="1295400"/>
          </a:xfrm>
          <a:prstGeom prst="line">
            <a:avLst/>
          </a:prstGeom>
          <a:noFill/>
          <a:ln w="44450">
            <a:solidFill>
              <a:srgbClr val="66FF33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3429000" y="5867400"/>
            <a:ext cx="2530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>
                <a:solidFill>
                  <a:srgbClr val="66FF33"/>
                </a:solidFill>
              </a:rPr>
              <a:t>Much    More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Plot Specification Table</a:t>
            </a:r>
          </a:p>
        </p:txBody>
      </p:sp>
      <p:pic>
        <p:nvPicPr>
          <p:cNvPr id="80901" name="Picture 5" descr="pst_rip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" y="1447800"/>
            <a:ext cx="8229600" cy="4114800"/>
          </a:xfrm>
          <a:noFill/>
          <a:ln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rip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from rip is a computer graphics metafile (file with </a:t>
            </a:r>
            <a:r>
              <a:rPr lang="en-US" dirty="0" err="1"/>
              <a:t>extenstion</a:t>
            </a:r>
            <a:r>
              <a:rPr lang="en-US" dirty="0"/>
              <a:t> “.</a:t>
            </a:r>
            <a:r>
              <a:rPr lang="en-US" dirty="0" err="1"/>
              <a:t>cgm</a:t>
            </a:r>
            <a:r>
              <a:rPr lang="en-US" dirty="0"/>
              <a:t>”) that can be viewed with the </a:t>
            </a:r>
            <a:r>
              <a:rPr lang="en-US" dirty="0" err="1"/>
              <a:t>idt</a:t>
            </a:r>
            <a:r>
              <a:rPr lang="en-US" dirty="0"/>
              <a:t> image display tool or converted into .gif image files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WPS/WRF/RIP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WPS, real, WRF, and RIP requires a variety of scripts that must be submitted to the queue at the HPCC to run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WPS/WRF/RIP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WPS, real, WRF, and RIP requires a variety of scripts that must be submitted to the queue at the HPCC to run</a:t>
            </a:r>
          </a:p>
          <a:p>
            <a:endParaRPr lang="en-US" dirty="0"/>
          </a:p>
          <a:p>
            <a:r>
              <a:rPr lang="en-US" dirty="0"/>
              <a:t>The following is a step-by-step guide on how to setup the required directories, get the required files, and run WPS/real/WRF/RIP from your own directory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Required WPS Directory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/>
              <a:t>Go to directory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r>
              <a:rPr lang="en-US" dirty="0"/>
              <a:t>Type </a:t>
            </a:r>
          </a:p>
          <a:p>
            <a:pPr>
              <a:buNone/>
            </a:pPr>
            <a:r>
              <a:rPr lang="en-US" sz="2000" dirty="0"/>
              <a:t>       “cp   –r   /</a:t>
            </a:r>
            <a:r>
              <a:rPr lang="en-US" sz="2000" dirty="0" err="1"/>
              <a:t>lustre</a:t>
            </a:r>
            <a:r>
              <a:rPr lang="en-US" sz="2000" dirty="0"/>
              <a:t>/research/</a:t>
            </a:r>
            <a:r>
              <a:rPr lang="en-US" sz="2000" dirty="0" err="1"/>
              <a:t>bancell</a:t>
            </a:r>
            <a:r>
              <a:rPr lang="en-US" sz="2000" dirty="0"/>
              <a:t>/class5332/WPSV4.5     ./WPSV4”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copies the WPS directory structure to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your work directory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is where you will run the WPS programs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      (in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/WPSV4)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real/WRF Directory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/>
              <a:t>Go to directory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r>
              <a:rPr lang="en-US" dirty="0"/>
              <a:t>Type </a:t>
            </a:r>
          </a:p>
          <a:p>
            <a:pPr>
              <a:buNone/>
            </a:pPr>
            <a:r>
              <a:rPr lang="en-US" sz="2000" dirty="0"/>
              <a:t>     “cp  –r   /</a:t>
            </a:r>
            <a:r>
              <a:rPr lang="en-US" sz="2000" dirty="0" err="1"/>
              <a:t>lustre</a:t>
            </a:r>
            <a:r>
              <a:rPr lang="en-US" sz="2000" dirty="0"/>
              <a:t>/research/</a:t>
            </a:r>
            <a:r>
              <a:rPr lang="en-US" sz="2000" dirty="0" err="1"/>
              <a:t>bancell</a:t>
            </a:r>
            <a:r>
              <a:rPr lang="en-US" sz="2000" dirty="0"/>
              <a:t>/class5332/WRFV4.5.1        ./WRFV4”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copies the real and WRF directory 	structure to your work directory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is where you will run real and </a:t>
            </a:r>
            <a:r>
              <a:rPr lang="en-US" dirty="0" err="1"/>
              <a:t>wrf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   (in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/WRFV4/run)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Required RIP directory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/>
              <a:t>Go to directory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r>
              <a:rPr lang="en-US" dirty="0"/>
              <a:t>Type </a:t>
            </a:r>
          </a:p>
          <a:p>
            <a:pPr>
              <a:buNone/>
            </a:pPr>
            <a:r>
              <a:rPr lang="en-US" sz="2000" dirty="0"/>
              <a:t>                 “cp   –r   /</a:t>
            </a:r>
            <a:r>
              <a:rPr lang="en-US" sz="2000" dirty="0" err="1"/>
              <a:t>lustre</a:t>
            </a:r>
            <a:r>
              <a:rPr lang="en-US" sz="2000" dirty="0"/>
              <a:t>/research/</a:t>
            </a:r>
            <a:r>
              <a:rPr lang="en-US" sz="2000" dirty="0" err="1"/>
              <a:t>bancell</a:t>
            </a:r>
            <a:r>
              <a:rPr lang="en-US" sz="2000" dirty="0"/>
              <a:t>/class5332/RIP   ./RIP”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copies the RIP directory structure to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your work directory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is where you will run RIP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(in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/RIP)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Required Submission Script Directory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/>
              <a:t>Go to directory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endParaRPr lang="en-US" dirty="0"/>
          </a:p>
          <a:p>
            <a:r>
              <a:rPr lang="en-US" dirty="0"/>
              <a:t>Type </a:t>
            </a:r>
          </a:p>
          <a:p>
            <a:pPr>
              <a:buNone/>
            </a:pPr>
            <a:r>
              <a:rPr lang="en-US" sz="2000" dirty="0"/>
              <a:t>                   “cp   –r   /</a:t>
            </a:r>
            <a:r>
              <a:rPr lang="en-US" sz="2000" dirty="0" err="1"/>
              <a:t>lustre</a:t>
            </a:r>
            <a:r>
              <a:rPr lang="en-US" sz="2000" dirty="0"/>
              <a:t>/research/</a:t>
            </a:r>
            <a:r>
              <a:rPr lang="en-US" sz="2000" dirty="0" err="1"/>
              <a:t>bancell</a:t>
            </a:r>
            <a:r>
              <a:rPr lang="en-US" sz="2000" dirty="0"/>
              <a:t>/class5332/SUB   ./sub”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copies the directory structure containing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the HPCC submission scripts to your work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directory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	- This is where you will submit the scripts that 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run the MPI WPS programs, real, </a:t>
            </a:r>
            <a:r>
              <a:rPr lang="en-US" dirty="0" err="1"/>
              <a:t>wrf</a:t>
            </a:r>
            <a:r>
              <a:rPr lang="en-US" dirty="0"/>
              <a:t>, and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         rip (in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/sub)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WPS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sz="2800" b="1" u="sng" dirty="0" err="1"/>
              <a:t>geogrid</a:t>
            </a:r>
            <a:endParaRPr lang="en-US" sz="2800" b="1" u="sng" dirty="0"/>
          </a:p>
          <a:p>
            <a:r>
              <a:rPr lang="en-US" sz="2600" dirty="0"/>
              <a:t>Modify the namelist.wps for your case in /</a:t>
            </a:r>
            <a:r>
              <a:rPr lang="en-US" sz="2600" dirty="0" err="1"/>
              <a:t>lustre</a:t>
            </a:r>
            <a:r>
              <a:rPr lang="en-US" sz="2600" dirty="0"/>
              <a:t>/work/</a:t>
            </a:r>
            <a:r>
              <a:rPr lang="en-US" sz="2600" dirty="0" err="1"/>
              <a:t>your_userID</a:t>
            </a:r>
            <a:r>
              <a:rPr lang="en-US" sz="2600" dirty="0"/>
              <a:t>/WPSV4)</a:t>
            </a:r>
          </a:p>
          <a:p>
            <a:r>
              <a:rPr lang="en-US" sz="2600" dirty="0"/>
              <a:t>Go to /</a:t>
            </a:r>
            <a:r>
              <a:rPr lang="en-US" sz="2600" dirty="0" err="1"/>
              <a:t>lustre</a:t>
            </a:r>
            <a:r>
              <a:rPr lang="en-US" sz="2600" dirty="0"/>
              <a:t>/work/</a:t>
            </a:r>
            <a:r>
              <a:rPr lang="en-US" sz="2600" dirty="0" err="1"/>
              <a:t>your_userID</a:t>
            </a:r>
            <a:r>
              <a:rPr lang="en-US" sz="2600" dirty="0"/>
              <a:t>/sub</a:t>
            </a:r>
          </a:p>
          <a:p>
            <a:r>
              <a:rPr lang="en-US" sz="2600" dirty="0"/>
              <a:t>Modify </a:t>
            </a:r>
            <a:r>
              <a:rPr lang="en-US" sz="2600" dirty="0" err="1"/>
              <a:t>geogrid.scr</a:t>
            </a:r>
            <a:r>
              <a:rPr lang="en-US" sz="2600" dirty="0"/>
              <a:t> for the correct directory paths</a:t>
            </a:r>
          </a:p>
          <a:p>
            <a:r>
              <a:rPr lang="en-US" sz="2600" dirty="0"/>
              <a:t>Type “</a:t>
            </a:r>
            <a:r>
              <a:rPr lang="en-US" sz="2600" dirty="0" err="1"/>
              <a:t>sbatch</a:t>
            </a:r>
            <a:r>
              <a:rPr lang="en-US" sz="2600" dirty="0"/>
              <a:t>  </a:t>
            </a:r>
            <a:r>
              <a:rPr lang="en-US" sz="2600" dirty="0" err="1"/>
              <a:t>geogrid.scr</a:t>
            </a:r>
            <a:r>
              <a:rPr lang="en-US" sz="2600" dirty="0"/>
              <a:t>”</a:t>
            </a:r>
          </a:p>
          <a:p>
            <a:r>
              <a:rPr lang="en-US" sz="2600" dirty="0"/>
              <a:t>Make sure output files geo_em.d0X are generated in /</a:t>
            </a:r>
            <a:r>
              <a:rPr lang="en-US" sz="2600" dirty="0" err="1"/>
              <a:t>lustre</a:t>
            </a:r>
            <a:r>
              <a:rPr lang="en-US" sz="2600" dirty="0"/>
              <a:t>/work/</a:t>
            </a:r>
            <a:r>
              <a:rPr lang="en-US" sz="2600" dirty="0" err="1"/>
              <a:t>your_userID</a:t>
            </a:r>
            <a:r>
              <a:rPr lang="en-US" sz="2600" dirty="0"/>
              <a:t>/WPSV4</a:t>
            </a:r>
          </a:p>
          <a:p>
            <a:r>
              <a:rPr lang="en-US" sz="2600" dirty="0"/>
              <a:t>Check </a:t>
            </a:r>
            <a:r>
              <a:rPr lang="en-US" sz="2600" dirty="0" err="1"/>
              <a:t>geogrid</a:t>
            </a:r>
            <a:r>
              <a:rPr lang="en-US" sz="2600" dirty="0"/>
              <a:t> log files in the WPS directory and </a:t>
            </a:r>
            <a:r>
              <a:rPr lang="en-US" sz="2600" dirty="0" err="1"/>
              <a:t>error_out_geogrid</a:t>
            </a:r>
            <a:r>
              <a:rPr lang="en-US" sz="2600" dirty="0"/>
              <a:t>, </a:t>
            </a:r>
            <a:r>
              <a:rPr lang="en-US" sz="2600" dirty="0" err="1"/>
              <a:t>submit_out_geogrid</a:t>
            </a:r>
            <a:r>
              <a:rPr lang="en-US" sz="2600" dirty="0"/>
              <a:t> files in the sub directory if you have problems</a:t>
            </a:r>
          </a:p>
          <a:p>
            <a:endParaRPr lang="en-US" sz="26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C5880CB-1B5F-8A67-ECCF-360870056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5400"/>
            <a:ext cx="6934200" cy="680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557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Running WPS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sz="2800" b="1" u="sng" dirty="0" err="1"/>
              <a:t>geogrid</a:t>
            </a:r>
            <a:r>
              <a:rPr lang="en-US" sz="2800" b="1" u="sng" dirty="0"/>
              <a:t> – Viewing your domain</a:t>
            </a:r>
          </a:p>
          <a:p>
            <a:r>
              <a:rPr lang="en-US" sz="2400" dirty="0"/>
              <a:t>To view the domain(s) you want to create with geogrid, use the </a:t>
            </a:r>
            <a:r>
              <a:rPr lang="en-US" sz="2400" dirty="0" err="1"/>
              <a:t>plotgrids_new.ncl</a:t>
            </a:r>
            <a:r>
              <a:rPr lang="en-US" sz="2400" dirty="0"/>
              <a:t> utility by following these steps: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1) Go to an interactive core on </a:t>
            </a:r>
            <a:r>
              <a:rPr lang="en-US" sz="2000" dirty="0" err="1"/>
              <a:t>nocona</a:t>
            </a:r>
            <a:r>
              <a:rPr lang="en-US" sz="2000" dirty="0"/>
              <a:t> (type “interactive”)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2) Make sure you are in /</a:t>
            </a:r>
            <a:r>
              <a:rPr lang="en-US" sz="2000" dirty="0" err="1"/>
              <a:t>lustre</a:t>
            </a:r>
            <a:r>
              <a:rPr lang="en-US" sz="2000" dirty="0"/>
              <a:t>/work/</a:t>
            </a:r>
            <a:r>
              <a:rPr lang="en-US" sz="2000" dirty="0" err="1"/>
              <a:t>your_userID</a:t>
            </a:r>
            <a:r>
              <a:rPr lang="en-US" sz="2000" dirty="0"/>
              <a:t>/WPSV4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3) Make sure you have miniconda3 installed, as well as the </a:t>
            </a:r>
            <a:r>
              <a:rPr lang="en-US" sz="2000" dirty="0" err="1"/>
              <a:t>ncl_stable</a:t>
            </a:r>
            <a:r>
              <a:rPr lang="en-US" sz="2000" dirty="0"/>
              <a:t> </a:t>
            </a:r>
            <a:r>
              <a:rPr lang="en-US" sz="2000" dirty="0" err="1"/>
              <a:t>conda</a:t>
            </a:r>
            <a:r>
              <a:rPr lang="en-US" sz="2000" dirty="0"/>
              <a:t> environment 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4) Activate the </a:t>
            </a:r>
            <a:r>
              <a:rPr lang="en-US" sz="2000" dirty="0" err="1"/>
              <a:t>ncl_stable</a:t>
            </a:r>
            <a:r>
              <a:rPr lang="en-US" sz="2000" dirty="0"/>
              <a:t> environment with “</a:t>
            </a:r>
            <a:r>
              <a:rPr lang="en-US" sz="2000" dirty="0" err="1"/>
              <a:t>conda</a:t>
            </a:r>
            <a:r>
              <a:rPr lang="en-US" sz="2000" dirty="0"/>
              <a:t>  activate  </a:t>
            </a:r>
            <a:r>
              <a:rPr lang="en-US" sz="2000" dirty="0" err="1"/>
              <a:t>ncl_stable</a:t>
            </a:r>
            <a:r>
              <a:rPr lang="en-US" sz="2000" dirty="0"/>
              <a:t>”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5) Make sure </a:t>
            </a:r>
            <a:r>
              <a:rPr lang="en-US" sz="2000" dirty="0" err="1"/>
              <a:t>MobaXterm</a:t>
            </a:r>
            <a:r>
              <a:rPr lang="en-US" sz="2000" dirty="0"/>
              <a:t> is running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	6) Type “</a:t>
            </a:r>
            <a:r>
              <a:rPr lang="en-US" sz="2000" dirty="0" err="1"/>
              <a:t>ncl</a:t>
            </a:r>
            <a:r>
              <a:rPr lang="en-US" sz="2000" dirty="0"/>
              <a:t>   util/</a:t>
            </a:r>
            <a:r>
              <a:rPr lang="en-US" sz="2000" dirty="0" err="1"/>
              <a:t>plotgrids_new.ncl</a:t>
            </a:r>
            <a:r>
              <a:rPr lang="en-US" sz="2000" dirty="0"/>
              <a:t>” </a:t>
            </a:r>
          </a:p>
          <a:p>
            <a:r>
              <a:rPr lang="en-US" sz="2400" dirty="0"/>
              <a:t>After running </a:t>
            </a:r>
            <a:r>
              <a:rPr lang="en-US" sz="2400" dirty="0" err="1"/>
              <a:t>plotgrids_new.ncl</a:t>
            </a:r>
            <a:r>
              <a:rPr lang="en-US" sz="2400" dirty="0"/>
              <a:t>, a picture of your domain should pop up on your screen (as specified by your namelist.wps)</a:t>
            </a:r>
          </a:p>
          <a:p>
            <a:r>
              <a:rPr lang="en-US" sz="2400" dirty="0"/>
              <a:t>Use this utility to tinker with your domain until it looks how you want it to look, then run geogrid.exe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WPS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3058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sz="3100" b="1" u="sng" dirty="0" err="1"/>
              <a:t>ungrib</a:t>
            </a:r>
            <a:endParaRPr lang="en-US" sz="3100" b="1" u="sng" dirty="0"/>
          </a:p>
          <a:p>
            <a:r>
              <a:rPr lang="en-US" sz="2400" dirty="0"/>
              <a:t>GFS files for the homework are in /</a:t>
            </a:r>
            <a:r>
              <a:rPr lang="en-US" sz="2400" dirty="0" err="1"/>
              <a:t>lustre</a:t>
            </a:r>
            <a:r>
              <a:rPr lang="en-US" sz="2400" dirty="0"/>
              <a:t>/</a:t>
            </a:r>
            <a:r>
              <a:rPr lang="en-US" sz="2400" dirty="0" err="1"/>
              <a:t>reserach</a:t>
            </a:r>
            <a:r>
              <a:rPr lang="en-US" sz="2400" dirty="0"/>
              <a:t>/</a:t>
            </a:r>
            <a:r>
              <a:rPr lang="en-US" sz="2400" dirty="0" err="1"/>
              <a:t>bancell</a:t>
            </a:r>
            <a:r>
              <a:rPr lang="en-US" sz="2400" dirty="0"/>
              <a:t>/class5332/TESTGFS, copy them to your /data directory in your WPS directory</a:t>
            </a:r>
          </a:p>
          <a:p>
            <a:r>
              <a:rPr lang="en-US" sz="2400" dirty="0"/>
              <a:t>Go to /</a:t>
            </a:r>
            <a:r>
              <a:rPr lang="en-US" sz="2400" dirty="0" err="1"/>
              <a:t>lustre</a:t>
            </a:r>
            <a:r>
              <a:rPr lang="en-US" sz="2400" dirty="0"/>
              <a:t>/work/</a:t>
            </a:r>
            <a:r>
              <a:rPr lang="en-US" sz="2400" dirty="0" err="1"/>
              <a:t>your_userID</a:t>
            </a:r>
            <a:r>
              <a:rPr lang="en-US" sz="2400" dirty="0"/>
              <a:t>/WPSV4 and then type “./link_grib.csh  data/gfs*”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		- This links </a:t>
            </a:r>
            <a:r>
              <a:rPr lang="en-US" sz="2400" dirty="0" err="1"/>
              <a:t>ungrib</a:t>
            </a:r>
            <a:r>
              <a:rPr lang="en-US" sz="2400" dirty="0"/>
              <a:t> files to the GFS files in /data</a:t>
            </a:r>
          </a:p>
          <a:p>
            <a:r>
              <a:rPr lang="en-US" sz="2400" dirty="0"/>
              <a:t>Go to /</a:t>
            </a:r>
            <a:r>
              <a:rPr lang="en-US" sz="2400" dirty="0" err="1"/>
              <a:t>lustre</a:t>
            </a:r>
            <a:r>
              <a:rPr lang="en-US" sz="2400" dirty="0"/>
              <a:t>/work/</a:t>
            </a:r>
            <a:r>
              <a:rPr lang="en-US" sz="2400" dirty="0" err="1"/>
              <a:t>your_userID</a:t>
            </a:r>
            <a:r>
              <a:rPr lang="en-US" sz="2400" dirty="0"/>
              <a:t>/sub</a:t>
            </a:r>
          </a:p>
          <a:p>
            <a:r>
              <a:rPr lang="en-US" sz="2400" dirty="0"/>
              <a:t>Modify </a:t>
            </a:r>
            <a:r>
              <a:rPr lang="en-US" sz="2400" dirty="0" err="1"/>
              <a:t>ungrib.scr</a:t>
            </a:r>
            <a:r>
              <a:rPr lang="en-US" sz="2400" dirty="0"/>
              <a:t> for the correct directory paths</a:t>
            </a:r>
          </a:p>
          <a:p>
            <a:r>
              <a:rPr lang="en-US" sz="2400" dirty="0"/>
              <a:t>Type “</a:t>
            </a:r>
            <a:r>
              <a:rPr lang="en-US" sz="2400" dirty="0" err="1"/>
              <a:t>sbatch</a:t>
            </a:r>
            <a:r>
              <a:rPr lang="en-US" sz="2400" dirty="0"/>
              <a:t>  </a:t>
            </a:r>
            <a:r>
              <a:rPr lang="en-US" sz="2400" dirty="0" err="1"/>
              <a:t>ungrib.scr</a:t>
            </a:r>
            <a:r>
              <a:rPr lang="en-US" sz="2400" dirty="0"/>
              <a:t>”</a:t>
            </a:r>
          </a:p>
          <a:p>
            <a:r>
              <a:rPr lang="en-US" sz="2400" dirty="0"/>
              <a:t>Make sure output files with prefix “FILE” are generated in /</a:t>
            </a:r>
            <a:r>
              <a:rPr lang="en-US" sz="2400" dirty="0" err="1"/>
              <a:t>lustre</a:t>
            </a:r>
            <a:r>
              <a:rPr lang="en-US" sz="2400" dirty="0"/>
              <a:t>/work/</a:t>
            </a:r>
            <a:r>
              <a:rPr lang="en-US" sz="2400" dirty="0" err="1"/>
              <a:t>your_userID</a:t>
            </a:r>
            <a:r>
              <a:rPr lang="en-US" sz="2400" dirty="0"/>
              <a:t>/WPSV4</a:t>
            </a:r>
          </a:p>
          <a:p>
            <a:r>
              <a:rPr lang="en-US" sz="2400" dirty="0"/>
              <a:t>Check ungrib.log file in the WPS directory and </a:t>
            </a:r>
            <a:r>
              <a:rPr lang="en-US" sz="2400" dirty="0" err="1"/>
              <a:t>error_out_ungrib</a:t>
            </a:r>
            <a:r>
              <a:rPr lang="en-US" sz="2400" dirty="0"/>
              <a:t>, </a:t>
            </a:r>
            <a:r>
              <a:rPr lang="en-US" sz="2400" dirty="0" err="1"/>
              <a:t>submit_out_ungrib</a:t>
            </a:r>
            <a:r>
              <a:rPr lang="en-US" sz="2400" dirty="0"/>
              <a:t> files in the sub directory if you have problems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itchFamily="2" charset="2"/>
              <a:buNone/>
            </a:pPr>
            <a:endParaRPr lang="en-US" sz="3100" dirty="0"/>
          </a:p>
          <a:p>
            <a:pPr>
              <a:buFont typeface="Wingdings" pitchFamily="2" charset="2"/>
              <a:buNone/>
            </a:pPr>
            <a:endParaRPr lang="en-US" sz="31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WPS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sz="3100" b="1" u="sng" dirty="0" err="1"/>
              <a:t>metgrid</a:t>
            </a:r>
            <a:endParaRPr lang="en-US" sz="3100" dirty="0"/>
          </a:p>
          <a:p>
            <a:r>
              <a:rPr lang="en-US" sz="3100" dirty="0"/>
              <a:t>Go to /</a:t>
            </a:r>
            <a:r>
              <a:rPr lang="en-US" sz="3100" dirty="0" err="1"/>
              <a:t>lustre</a:t>
            </a:r>
            <a:r>
              <a:rPr lang="en-US" sz="3100" dirty="0"/>
              <a:t>/work/</a:t>
            </a:r>
            <a:r>
              <a:rPr lang="en-US" sz="3100" dirty="0" err="1"/>
              <a:t>your_userID</a:t>
            </a:r>
            <a:r>
              <a:rPr lang="en-US" sz="3100" dirty="0"/>
              <a:t>/sub</a:t>
            </a:r>
          </a:p>
          <a:p>
            <a:r>
              <a:rPr lang="en-US" dirty="0"/>
              <a:t>Modify </a:t>
            </a:r>
            <a:r>
              <a:rPr lang="en-US" dirty="0" err="1"/>
              <a:t>metgrid.scr</a:t>
            </a:r>
            <a:r>
              <a:rPr lang="en-US" dirty="0"/>
              <a:t> for the correct directory paths</a:t>
            </a:r>
          </a:p>
          <a:p>
            <a:r>
              <a:rPr lang="en-US" dirty="0"/>
              <a:t>Type “</a:t>
            </a:r>
            <a:r>
              <a:rPr lang="en-US" dirty="0" err="1"/>
              <a:t>sbatch</a:t>
            </a:r>
            <a:r>
              <a:rPr lang="en-US" dirty="0"/>
              <a:t>  </a:t>
            </a:r>
            <a:r>
              <a:rPr lang="en-US" dirty="0" err="1"/>
              <a:t>metgrid.scr</a:t>
            </a:r>
            <a:r>
              <a:rPr lang="en-US" dirty="0"/>
              <a:t>”</a:t>
            </a:r>
            <a:endParaRPr lang="en-US" sz="3100" dirty="0"/>
          </a:p>
          <a:p>
            <a:r>
              <a:rPr lang="en-US" dirty="0"/>
              <a:t>Make sure all met_em.d0X files exist 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/WPSV4, check the </a:t>
            </a:r>
            <a:r>
              <a:rPr lang="en-US" dirty="0" err="1"/>
              <a:t>metgrid</a:t>
            </a:r>
            <a:r>
              <a:rPr lang="en-US" dirty="0"/>
              <a:t> log files in that directory and the </a:t>
            </a:r>
            <a:r>
              <a:rPr lang="en-US" dirty="0" err="1"/>
              <a:t>error_out_metgrid</a:t>
            </a:r>
            <a:r>
              <a:rPr lang="en-US" dirty="0"/>
              <a:t> and </a:t>
            </a:r>
            <a:r>
              <a:rPr lang="en-US" dirty="0" err="1"/>
              <a:t>submit_out_metgrid</a:t>
            </a:r>
            <a:r>
              <a:rPr lang="en-US" dirty="0"/>
              <a:t> files in the sub directory if there are problems</a:t>
            </a:r>
            <a:endParaRPr lang="en-US" sz="3100" dirty="0"/>
          </a:p>
          <a:p>
            <a:pPr>
              <a:buFont typeface="Wingdings" pitchFamily="2" charset="2"/>
              <a:buNone/>
            </a:pPr>
            <a:endParaRPr lang="en-US" sz="31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real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sz="3100" dirty="0"/>
              <a:t>Go to /</a:t>
            </a:r>
            <a:r>
              <a:rPr lang="en-US" sz="3100" dirty="0" err="1"/>
              <a:t>lustre</a:t>
            </a:r>
            <a:r>
              <a:rPr lang="en-US" sz="3100" dirty="0"/>
              <a:t>/work/</a:t>
            </a:r>
            <a:r>
              <a:rPr lang="en-US" sz="3100" dirty="0" err="1"/>
              <a:t>your_userID</a:t>
            </a:r>
            <a:r>
              <a:rPr lang="en-US" sz="3100" dirty="0"/>
              <a:t>/WRFV4/run</a:t>
            </a:r>
          </a:p>
          <a:p>
            <a:r>
              <a:rPr lang="en-US" sz="3100" dirty="0"/>
              <a:t>Move all met_em.d0X files from the WPS directory to the above WRF directory</a:t>
            </a:r>
          </a:p>
          <a:p>
            <a:r>
              <a:rPr lang="en-US" sz="3100" dirty="0"/>
              <a:t>Modify the file </a:t>
            </a:r>
            <a:r>
              <a:rPr lang="en-US" sz="3100" dirty="0" err="1"/>
              <a:t>namelist.input</a:t>
            </a:r>
            <a:r>
              <a:rPr lang="en-US" sz="3100" dirty="0"/>
              <a:t> for your case</a:t>
            </a:r>
          </a:p>
          <a:p>
            <a:r>
              <a:rPr lang="en-US" sz="3100" dirty="0"/>
              <a:t>Go to /</a:t>
            </a:r>
            <a:r>
              <a:rPr lang="en-US" sz="3100" dirty="0" err="1"/>
              <a:t>lustre</a:t>
            </a:r>
            <a:r>
              <a:rPr lang="en-US" sz="3100" dirty="0"/>
              <a:t>/work/</a:t>
            </a:r>
            <a:r>
              <a:rPr lang="en-US" sz="3100" dirty="0" err="1"/>
              <a:t>your_userID</a:t>
            </a:r>
            <a:r>
              <a:rPr lang="en-US" sz="3100" dirty="0"/>
              <a:t>/sub</a:t>
            </a:r>
          </a:p>
          <a:p>
            <a:r>
              <a:rPr lang="en-US" sz="3100" dirty="0"/>
              <a:t>Modify </a:t>
            </a:r>
            <a:r>
              <a:rPr lang="en-US" sz="3100" dirty="0" err="1"/>
              <a:t>real.scr</a:t>
            </a:r>
            <a:r>
              <a:rPr lang="en-US" sz="3100" dirty="0"/>
              <a:t> for the correct directory paths</a:t>
            </a:r>
          </a:p>
          <a:p>
            <a:r>
              <a:rPr lang="en-US" dirty="0"/>
              <a:t>Type “</a:t>
            </a:r>
            <a:r>
              <a:rPr lang="en-US" dirty="0" err="1"/>
              <a:t>sbatch</a:t>
            </a:r>
            <a:r>
              <a:rPr lang="en-US" dirty="0"/>
              <a:t>  </a:t>
            </a:r>
            <a:r>
              <a:rPr lang="en-US" dirty="0" err="1"/>
              <a:t>real.scr</a:t>
            </a:r>
            <a:r>
              <a:rPr lang="en-US" dirty="0"/>
              <a:t>”</a:t>
            </a:r>
            <a:endParaRPr lang="en-US" sz="31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real cont’d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dirty="0"/>
              <a:t>Make sure the files wrfinput_d0X and wrfbdy_d01 exist 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/WRFV4/run, check  </a:t>
            </a:r>
            <a:r>
              <a:rPr lang="en-US" dirty="0" err="1"/>
              <a:t>rsl</a:t>
            </a:r>
            <a:r>
              <a:rPr lang="en-US" dirty="0"/>
              <a:t> log files in that directory as well as </a:t>
            </a:r>
            <a:r>
              <a:rPr lang="en-US" dirty="0" err="1"/>
              <a:t>submit_out_real</a:t>
            </a:r>
            <a:r>
              <a:rPr lang="en-US" dirty="0"/>
              <a:t>, </a:t>
            </a:r>
            <a:r>
              <a:rPr lang="en-US" dirty="0" err="1"/>
              <a:t>error_out_real</a:t>
            </a:r>
            <a:r>
              <a:rPr lang="en-US" dirty="0"/>
              <a:t> log files in the sub directory if you have problems</a:t>
            </a:r>
            <a:endParaRPr lang="en-US" sz="31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wrf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r>
              <a:rPr lang="en-US" sz="3100" dirty="0"/>
              <a:t>Go to /</a:t>
            </a:r>
            <a:r>
              <a:rPr lang="en-US" sz="3100" dirty="0" err="1"/>
              <a:t>lustre</a:t>
            </a:r>
            <a:r>
              <a:rPr lang="en-US" sz="3100" dirty="0"/>
              <a:t>/work/</a:t>
            </a:r>
            <a:r>
              <a:rPr lang="en-US" sz="3100" dirty="0" err="1"/>
              <a:t>your_userID</a:t>
            </a:r>
            <a:r>
              <a:rPr lang="en-US" sz="3100" dirty="0"/>
              <a:t>/sub</a:t>
            </a:r>
          </a:p>
          <a:p>
            <a:r>
              <a:rPr lang="en-US" sz="3100" dirty="0"/>
              <a:t>Modify </a:t>
            </a:r>
            <a:r>
              <a:rPr lang="en-US" sz="3100" dirty="0" err="1"/>
              <a:t>wrf.scr</a:t>
            </a:r>
            <a:r>
              <a:rPr lang="en-US" sz="3100" dirty="0"/>
              <a:t> for the correct directory paths</a:t>
            </a:r>
          </a:p>
          <a:p>
            <a:r>
              <a:rPr lang="en-US" dirty="0"/>
              <a:t>Type “</a:t>
            </a:r>
            <a:r>
              <a:rPr lang="en-US" dirty="0" err="1"/>
              <a:t>sbatch</a:t>
            </a:r>
            <a:r>
              <a:rPr lang="en-US" dirty="0"/>
              <a:t>  </a:t>
            </a:r>
            <a:r>
              <a:rPr lang="en-US" dirty="0" err="1"/>
              <a:t>wrf.scr</a:t>
            </a:r>
            <a:r>
              <a:rPr lang="en-US" dirty="0"/>
              <a:t>”</a:t>
            </a:r>
          </a:p>
          <a:p>
            <a:r>
              <a:rPr lang="en-US" dirty="0"/>
              <a:t>Make sure the file wrfout_d0X.date.nc exists in /</a:t>
            </a:r>
            <a:r>
              <a:rPr lang="en-US" dirty="0" err="1"/>
              <a:t>lustre</a:t>
            </a:r>
            <a:r>
              <a:rPr lang="en-US" dirty="0"/>
              <a:t>/work/</a:t>
            </a:r>
            <a:r>
              <a:rPr lang="en-US" dirty="0" err="1"/>
              <a:t>your_userID</a:t>
            </a:r>
            <a:r>
              <a:rPr lang="en-US" dirty="0"/>
              <a:t>/WRFV4/run, check  </a:t>
            </a:r>
            <a:r>
              <a:rPr lang="en-US" dirty="0" err="1"/>
              <a:t>rsl</a:t>
            </a:r>
            <a:r>
              <a:rPr lang="en-US" dirty="0"/>
              <a:t> log files in that directory as well as </a:t>
            </a:r>
            <a:r>
              <a:rPr lang="en-US" dirty="0" err="1"/>
              <a:t>submit_out_wrf</a:t>
            </a:r>
            <a:r>
              <a:rPr lang="en-US" dirty="0"/>
              <a:t>, </a:t>
            </a:r>
            <a:r>
              <a:rPr lang="en-US" dirty="0" err="1"/>
              <a:t>error_out_wrf</a:t>
            </a:r>
            <a:r>
              <a:rPr lang="en-US" dirty="0"/>
              <a:t> log files in the sub directory if you have problems</a:t>
            </a:r>
          </a:p>
          <a:p>
            <a:r>
              <a:rPr lang="en-US" dirty="0"/>
              <a:t>Make sure your run finished by looking at the end of the rsl.out.0000 file in the WRF directory</a:t>
            </a:r>
            <a:endParaRPr lang="en-US" sz="3100" dirty="0"/>
          </a:p>
          <a:p>
            <a:endParaRPr lang="en-US" sz="3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RIP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4525963"/>
          </a:xfrm>
        </p:spPr>
        <p:txBody>
          <a:bodyPr/>
          <a:lstStyle/>
          <a:p>
            <a:r>
              <a:rPr lang="en-US" sz="3100" dirty="0"/>
              <a:t>Load the </a:t>
            </a:r>
            <a:r>
              <a:rPr lang="en-US" sz="3100" dirty="0" err="1"/>
              <a:t>ncl_stable</a:t>
            </a:r>
            <a:r>
              <a:rPr lang="en-US" sz="3100" dirty="0"/>
              <a:t> environment by typing </a:t>
            </a:r>
          </a:p>
          <a:p>
            <a:pPr marL="0" indent="0">
              <a:buNone/>
            </a:pPr>
            <a:r>
              <a:rPr lang="en-US" sz="3100" dirty="0"/>
              <a:t>     “</a:t>
            </a:r>
            <a:r>
              <a:rPr lang="en-US" sz="3100" dirty="0" err="1"/>
              <a:t>conda</a:t>
            </a:r>
            <a:r>
              <a:rPr lang="en-US" sz="3100" dirty="0"/>
              <a:t>  activate  </a:t>
            </a:r>
            <a:r>
              <a:rPr lang="en-US" sz="3100" dirty="0" err="1"/>
              <a:t>ncl_stable</a:t>
            </a:r>
            <a:r>
              <a:rPr lang="en-US" sz="3100" dirty="0"/>
              <a:t>”</a:t>
            </a:r>
          </a:p>
          <a:p>
            <a:r>
              <a:rPr lang="en-US" sz="3100" dirty="0"/>
              <a:t>Move all of your </a:t>
            </a:r>
            <a:r>
              <a:rPr lang="en-US" sz="3100" dirty="0" err="1"/>
              <a:t>wrfout</a:t>
            </a:r>
            <a:r>
              <a:rPr lang="en-US" sz="3100" dirty="0"/>
              <a:t> files from the WRF run to your /</a:t>
            </a:r>
            <a:r>
              <a:rPr lang="en-US" sz="3100" dirty="0" err="1"/>
              <a:t>lustre</a:t>
            </a:r>
            <a:r>
              <a:rPr lang="en-US" sz="3100" dirty="0"/>
              <a:t>/work/</a:t>
            </a:r>
            <a:r>
              <a:rPr lang="en-US" sz="3100" dirty="0" err="1"/>
              <a:t>your_userID</a:t>
            </a:r>
            <a:r>
              <a:rPr lang="en-US" sz="3100" dirty="0"/>
              <a:t>/RIP directory (do this one domain at a time)</a:t>
            </a:r>
          </a:p>
          <a:p>
            <a:r>
              <a:rPr lang="en-US" sz="3100" dirty="0"/>
              <a:t>Go to /</a:t>
            </a:r>
            <a:r>
              <a:rPr lang="en-US" sz="3100" dirty="0" err="1"/>
              <a:t>lustre</a:t>
            </a:r>
            <a:r>
              <a:rPr lang="en-US" sz="3100" dirty="0"/>
              <a:t>/work/</a:t>
            </a:r>
            <a:r>
              <a:rPr lang="en-US" sz="3100" dirty="0" err="1"/>
              <a:t>your_userID</a:t>
            </a:r>
            <a:r>
              <a:rPr lang="en-US" sz="3100" dirty="0"/>
              <a:t>/sub</a:t>
            </a:r>
          </a:p>
          <a:p>
            <a:r>
              <a:rPr lang="en-US" sz="3100" dirty="0"/>
              <a:t>Modify </a:t>
            </a:r>
            <a:r>
              <a:rPr lang="en-US" sz="3100" dirty="0" err="1"/>
              <a:t>ripdp.scr</a:t>
            </a:r>
            <a:r>
              <a:rPr lang="en-US" sz="3100" dirty="0"/>
              <a:t> for the correct directory paths</a:t>
            </a:r>
          </a:p>
          <a:p>
            <a:r>
              <a:rPr lang="en-US" sz="3100" dirty="0"/>
              <a:t>Type “</a:t>
            </a:r>
            <a:r>
              <a:rPr lang="en-US" sz="3100" dirty="0" err="1"/>
              <a:t>sbatch</a:t>
            </a:r>
            <a:r>
              <a:rPr lang="en-US" sz="3100" dirty="0"/>
              <a:t>  </a:t>
            </a:r>
            <a:r>
              <a:rPr lang="en-US" sz="3100" dirty="0" err="1"/>
              <a:t>ripdp.scr</a:t>
            </a:r>
            <a:r>
              <a:rPr lang="en-US" sz="3100" dirty="0"/>
              <a:t>”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RIP cont’d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3000" dirty="0"/>
              <a:t>Make sure your /</a:t>
            </a:r>
            <a:r>
              <a:rPr lang="en-US" sz="3000" dirty="0" err="1"/>
              <a:t>lustre</a:t>
            </a:r>
            <a:r>
              <a:rPr lang="en-US" sz="3000" dirty="0"/>
              <a:t>/work/</a:t>
            </a:r>
            <a:r>
              <a:rPr lang="en-US" sz="3000" dirty="0" err="1"/>
              <a:t>your_userID</a:t>
            </a:r>
            <a:r>
              <a:rPr lang="en-US" sz="3000" dirty="0"/>
              <a:t>/RIP/data directory has files in it (from execution of </a:t>
            </a:r>
            <a:r>
              <a:rPr lang="en-US" sz="3000" dirty="0" err="1"/>
              <a:t>ripdp_wrfarw</a:t>
            </a:r>
            <a:r>
              <a:rPr lang="en-US" sz="3000" dirty="0"/>
              <a:t>) </a:t>
            </a:r>
          </a:p>
          <a:p>
            <a:r>
              <a:rPr lang="en-US" sz="3000" dirty="0"/>
              <a:t>Modify the .in files in /lustre/work/your_userID/RIP  for your desired plot</a:t>
            </a:r>
          </a:p>
          <a:p>
            <a:r>
              <a:rPr lang="en-US" sz="3000" dirty="0"/>
              <a:t>Go to /</a:t>
            </a:r>
            <a:r>
              <a:rPr lang="en-US" sz="3000" dirty="0" err="1"/>
              <a:t>lustre</a:t>
            </a:r>
            <a:r>
              <a:rPr lang="en-US" sz="3000" dirty="0"/>
              <a:t>/work/</a:t>
            </a:r>
            <a:r>
              <a:rPr lang="en-US" sz="3000" dirty="0" err="1"/>
              <a:t>your_userID</a:t>
            </a:r>
            <a:r>
              <a:rPr lang="en-US" sz="3000" dirty="0"/>
              <a:t>/sub</a:t>
            </a:r>
          </a:p>
          <a:p>
            <a:r>
              <a:rPr lang="en-US" sz="3000" dirty="0"/>
              <a:t>Modify </a:t>
            </a:r>
            <a:r>
              <a:rPr lang="en-US" sz="3000" dirty="0" err="1"/>
              <a:t>rip.scr</a:t>
            </a:r>
            <a:r>
              <a:rPr lang="en-US" sz="3000" dirty="0"/>
              <a:t> for the correct directory paths and .in filenames</a:t>
            </a:r>
          </a:p>
          <a:p>
            <a:r>
              <a:rPr lang="en-US" sz="3000" dirty="0"/>
              <a:t>Type “</a:t>
            </a:r>
            <a:r>
              <a:rPr lang="en-US" sz="3000" dirty="0" err="1"/>
              <a:t>sbatch</a:t>
            </a:r>
            <a:r>
              <a:rPr lang="en-US" sz="3000" dirty="0"/>
              <a:t>  </a:t>
            </a:r>
            <a:r>
              <a:rPr lang="en-US" sz="3000" dirty="0" err="1"/>
              <a:t>rip.scr</a:t>
            </a:r>
            <a:r>
              <a:rPr lang="en-US" sz="3000" dirty="0"/>
              <a:t>”</a:t>
            </a:r>
          </a:p>
          <a:p>
            <a:endParaRPr lang="en-US" sz="3000" dirty="0"/>
          </a:p>
          <a:p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296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Running RIP cont’d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You can look at the resulting gif images with the command “animate  -loop  0  *.gif” (you have to first load modules like this:  “module  load  </a:t>
            </a:r>
            <a:r>
              <a:rPr lang="en-US" dirty="0" err="1"/>
              <a:t>ansys</a:t>
            </a:r>
            <a:r>
              <a:rPr lang="en-US" dirty="0"/>
              <a:t>  </a:t>
            </a:r>
            <a:r>
              <a:rPr lang="en-US" dirty="0" err="1"/>
              <a:t>gcc</a:t>
            </a:r>
            <a:r>
              <a:rPr lang="en-US" dirty="0"/>
              <a:t>  </a:t>
            </a:r>
            <a:r>
              <a:rPr lang="en-US" dirty="0" err="1"/>
              <a:t>imagemagick</a:t>
            </a:r>
            <a:r>
              <a:rPr lang="en-US" dirty="0"/>
              <a:t>”</a:t>
            </a:r>
          </a:p>
          <a:p>
            <a:r>
              <a:rPr lang="en-US" dirty="0"/>
              <a:t>You can see several examples of rip  .in files in the /</a:t>
            </a:r>
            <a:r>
              <a:rPr lang="en-US" dirty="0" err="1"/>
              <a:t>exampleripfiles</a:t>
            </a:r>
            <a:r>
              <a:rPr lang="en-US" dirty="0"/>
              <a:t> directory of your RIP directory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WPS/WRF/RIP Notes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100" dirty="0"/>
              <a:t>Clean up all files before your next run!!!! (WPS, real, </a:t>
            </a:r>
            <a:r>
              <a:rPr lang="en-US" sz="3100" dirty="0" err="1"/>
              <a:t>wrf</a:t>
            </a:r>
            <a:r>
              <a:rPr lang="en-US" sz="3100" dirty="0"/>
              <a:t>, RIP, and sub)</a:t>
            </a:r>
          </a:p>
          <a:p>
            <a:r>
              <a:rPr lang="en-US" sz="3100" dirty="0"/>
              <a:t>Programs fail for many reasons – carefully examine your log files to figure out why before asking for help</a:t>
            </a:r>
          </a:p>
          <a:p>
            <a:pPr>
              <a:buFont typeface="Wingdings" pitchFamily="2" charset="2"/>
              <a:buNone/>
            </a:pPr>
            <a:endParaRPr lang="en-US" sz="3600" dirty="0"/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Things First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To run WPS/WRF/RIP at HPCC on a shell using a PC, you need to download 2 things: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- </a:t>
            </a:r>
            <a:r>
              <a:rPr lang="en-US" sz="2800" u="sng" dirty="0"/>
              <a:t>Putty</a:t>
            </a:r>
            <a:r>
              <a:rPr lang="en-US" sz="2800" dirty="0"/>
              <a:t> (gives you the shell, make sure to enable  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   X11 forwarding at Connection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SSH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X11), use 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   address login.hpcc.ttu.edu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	- </a:t>
            </a:r>
            <a:r>
              <a:rPr lang="en-US" sz="2800" u="sng" dirty="0" err="1"/>
              <a:t>MobaXterm</a:t>
            </a:r>
            <a:r>
              <a:rPr lang="en-US" sz="2800" dirty="0"/>
              <a:t> (gives ability to bring up external 	   windows for graphics and text editing, for 		   example with emacs) – this needs to be active to 	   bring up external windows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Things First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sz="2800" dirty="0"/>
              <a:t>On a Mac, no downloads needed!  Just bring up a shell and ssh to </a:t>
            </a:r>
            <a:r>
              <a:rPr lang="en-US" sz="2800" dirty="0" err="1"/>
              <a:t>RedRaider</a:t>
            </a:r>
            <a:r>
              <a:rPr lang="en-US" sz="2800" dirty="0"/>
              <a:t> with: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 ssh  –X  your_userID@login.hpcc.ttu.edu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  <a:p>
            <a:pPr>
              <a:buFont typeface="Wingdings" pitchFamily="2" charset="2"/>
              <a:buNone/>
            </a:pPr>
            <a:r>
              <a:rPr lang="en-US" sz="2800" u="sng" dirty="0"/>
              <a:t>Note</a:t>
            </a:r>
            <a:r>
              <a:rPr lang="en-US" sz="2800" dirty="0"/>
              <a:t>:  When you login to </a:t>
            </a:r>
            <a:r>
              <a:rPr lang="en-US" sz="2800" dirty="0" err="1"/>
              <a:t>RedRaider</a:t>
            </a:r>
            <a:r>
              <a:rPr lang="en-US" sz="2800" dirty="0"/>
              <a:t>, you’ll be in your 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          home directory (/home/</a:t>
            </a:r>
            <a:r>
              <a:rPr lang="en-US" sz="2800" dirty="0" err="1"/>
              <a:t>your_userID</a:t>
            </a:r>
            <a:r>
              <a:rPr lang="en-US" sz="2800" dirty="0"/>
              <a:t>)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  <a:p>
            <a:pPr>
              <a:buFont typeface="Wingdings" pitchFamily="2" charset="2"/>
              <a:buNone/>
            </a:pPr>
            <a:r>
              <a:rPr lang="en-US" sz="2800" dirty="0"/>
              <a:t> disk space limit on /home/</a:t>
            </a:r>
            <a:r>
              <a:rPr lang="en-US" sz="2800" dirty="0" err="1"/>
              <a:t>your_userID</a:t>
            </a:r>
            <a:r>
              <a:rPr lang="en-US" sz="2800" dirty="0"/>
              <a:t>:              500GB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 disk space limit on /</a:t>
            </a:r>
            <a:r>
              <a:rPr lang="en-US" sz="2800" dirty="0" err="1"/>
              <a:t>lustre</a:t>
            </a:r>
            <a:r>
              <a:rPr lang="en-US" sz="2800" dirty="0"/>
              <a:t>/work/</a:t>
            </a:r>
            <a:r>
              <a:rPr lang="en-US" sz="2800" dirty="0" err="1"/>
              <a:t>your_userID</a:t>
            </a:r>
            <a:r>
              <a:rPr lang="en-US" sz="2800"/>
              <a:t>:     1.5TB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Things First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sz="2800" dirty="0"/>
              <a:t>If you are off campus, you’ll need the TTU VPN to connect to HPCC </a:t>
            </a:r>
          </a:p>
          <a:p>
            <a:endParaRPr lang="en-US" sz="2800" dirty="0"/>
          </a:p>
          <a:p>
            <a:r>
              <a:rPr lang="en-US" sz="2800" dirty="0"/>
              <a:t>Several HPCC-related problems can occur, for help with these email </a:t>
            </a:r>
            <a:r>
              <a:rPr lang="en-US" sz="2800" dirty="0">
                <a:hlinkClick r:id="rId2"/>
              </a:rPr>
              <a:t>hpccsupport@ttu.edu</a:t>
            </a:r>
            <a:r>
              <a:rPr lang="en-US" sz="2800" dirty="0"/>
              <a:t> and thoroughly describe your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81730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7470</TotalTime>
  <Words>3699</Words>
  <Application>Microsoft Office PowerPoint</Application>
  <PresentationFormat>On-screen Show (4:3)</PresentationFormat>
  <Paragraphs>437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Arial</vt:lpstr>
      <vt:lpstr>Garamond</vt:lpstr>
      <vt:lpstr>Wingdings</vt:lpstr>
      <vt:lpstr>Stream</vt:lpstr>
      <vt:lpstr>ATMO5332 WRF-ARW Tutorial</vt:lpstr>
      <vt:lpstr>Overview of WRF Modeling System </vt:lpstr>
      <vt:lpstr>Overview of WRF Modeling System </vt:lpstr>
      <vt:lpstr>Overview of WRF Modeling System</vt:lpstr>
      <vt:lpstr>WPS</vt:lpstr>
      <vt:lpstr>WPS</vt:lpstr>
      <vt:lpstr>WPS</vt:lpstr>
      <vt:lpstr>WPS</vt:lpstr>
      <vt:lpstr>WPS - geogrid</vt:lpstr>
      <vt:lpstr>WPS - geogrid</vt:lpstr>
      <vt:lpstr>WPS - geogrid</vt:lpstr>
      <vt:lpstr>namelist.wps</vt:lpstr>
      <vt:lpstr>namelist.wps (geogrid)</vt:lpstr>
      <vt:lpstr>namelist.wps (geogrid)</vt:lpstr>
      <vt:lpstr>WPS - geogrid</vt:lpstr>
      <vt:lpstr>WPS - geogrid</vt:lpstr>
      <vt:lpstr>WPS - geogrid</vt:lpstr>
      <vt:lpstr>WPS - geogrid</vt:lpstr>
      <vt:lpstr>namelist.wps (geogrid)</vt:lpstr>
      <vt:lpstr>WPS - ungrib</vt:lpstr>
      <vt:lpstr>namelist.wps (ungrib)</vt:lpstr>
      <vt:lpstr>namelist.wps (ungrib)</vt:lpstr>
      <vt:lpstr>WPS - ungrib</vt:lpstr>
      <vt:lpstr>WPS - ungrib</vt:lpstr>
      <vt:lpstr>WPS - metgrid</vt:lpstr>
      <vt:lpstr>namelist.wps (metgrid)</vt:lpstr>
      <vt:lpstr>namelist.wps (metgrid)</vt:lpstr>
      <vt:lpstr>WPS - metgrid</vt:lpstr>
      <vt:lpstr>WPS - metgrid</vt:lpstr>
      <vt:lpstr>WPS - metgrid</vt:lpstr>
      <vt:lpstr>WRF Initialization (real)</vt:lpstr>
      <vt:lpstr>WRF Initialization (real)</vt:lpstr>
      <vt:lpstr>WRF Initialization (real)</vt:lpstr>
      <vt:lpstr>real</vt:lpstr>
      <vt:lpstr>real</vt:lpstr>
      <vt:lpstr>namelist.input</vt:lpstr>
      <vt:lpstr>namelist.input</vt:lpstr>
      <vt:lpstr>namelist.input – time_control</vt:lpstr>
      <vt:lpstr>namelist.input – domains</vt:lpstr>
      <vt:lpstr>namelist.input – physics</vt:lpstr>
      <vt:lpstr>namelist.input – dynamics</vt:lpstr>
      <vt:lpstr>namelist.input – bdy_control</vt:lpstr>
      <vt:lpstr>WRF Numerical Integration (wrf)</vt:lpstr>
      <vt:lpstr>wrf</vt:lpstr>
      <vt:lpstr>wrf</vt:lpstr>
      <vt:lpstr>real and wrf</vt:lpstr>
      <vt:lpstr>real and wrf</vt:lpstr>
      <vt:lpstr>real and wrf</vt:lpstr>
      <vt:lpstr>real and wrf</vt:lpstr>
      <vt:lpstr>Visualization (RIP)</vt:lpstr>
      <vt:lpstr>Visualization (RIP)</vt:lpstr>
      <vt:lpstr>ripdp_wrfarw</vt:lpstr>
      <vt:lpstr>rip</vt:lpstr>
      <vt:lpstr>The rip input file</vt:lpstr>
      <vt:lpstr>The rip input file</vt:lpstr>
      <vt:lpstr>slp2.in</vt:lpstr>
      <vt:lpstr>User Input Section</vt:lpstr>
      <vt:lpstr>Color Table</vt:lpstr>
      <vt:lpstr>Plot Specification Table</vt:lpstr>
      <vt:lpstr>rip</vt:lpstr>
      <vt:lpstr>Running WPS/WRF/RIP</vt:lpstr>
      <vt:lpstr>Running WPS/WRF/RIP</vt:lpstr>
      <vt:lpstr>Required WPS Directory</vt:lpstr>
      <vt:lpstr>Required real/WRF Directory</vt:lpstr>
      <vt:lpstr>Required RIP directory</vt:lpstr>
      <vt:lpstr>Required Submission Script Directory</vt:lpstr>
      <vt:lpstr>Running WPS</vt:lpstr>
      <vt:lpstr>PowerPoint Presentation</vt:lpstr>
      <vt:lpstr>Running WPS</vt:lpstr>
      <vt:lpstr>Running WPS</vt:lpstr>
      <vt:lpstr>Running WPS</vt:lpstr>
      <vt:lpstr>Running real</vt:lpstr>
      <vt:lpstr>Running real cont’d</vt:lpstr>
      <vt:lpstr>Running wrf</vt:lpstr>
      <vt:lpstr>Running RIP</vt:lpstr>
      <vt:lpstr>Running RIP cont’d</vt:lpstr>
      <vt:lpstr>Running RIP cont’d</vt:lpstr>
      <vt:lpstr>Final WPS/WRF/RIP Notes</vt:lpstr>
      <vt:lpstr>First Things First</vt:lpstr>
      <vt:lpstr>First Things First</vt:lpstr>
      <vt:lpstr>First Things First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ATMO5332 WRF-ARW Tutorial</dc:title>
  <dc:creator>bancell</dc:creator>
  <cp:lastModifiedBy>Ancell, Brian</cp:lastModifiedBy>
  <cp:revision>189</cp:revision>
  <dcterms:created xsi:type="dcterms:W3CDTF">2010-09-07T03:41:45Z</dcterms:created>
  <dcterms:modified xsi:type="dcterms:W3CDTF">2026-09-08T15:15:17Z</dcterms:modified>
</cp:coreProperties>
</file>